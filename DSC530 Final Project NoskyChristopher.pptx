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6" autoAdjust="0"/>
    <p:restoredTop sz="94660"/>
  </p:normalViewPr>
  <p:slideViewPr>
    <p:cSldViewPr snapToGrid="0">
      <p:cViewPr varScale="1">
        <p:scale>
          <a:sx n="114" d="100"/>
          <a:sy n="114" d="100"/>
        </p:scale>
        <p:origin x="1368"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51D389-18C5-4ADA-B64D-2FA85F370817}"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BF087E5D-5318-4B7B-A69B-AE604027C6BA}">
      <dgm:prSet/>
      <dgm:spPr/>
      <dgm:t>
        <a:bodyPr/>
        <a:lstStyle/>
        <a:p>
          <a:r>
            <a:rPr lang="en-US"/>
            <a:t>Does Education or Experience play a greater role in decision to leave? </a:t>
          </a:r>
        </a:p>
      </dgm:t>
    </dgm:pt>
    <dgm:pt modelId="{BFE9247A-D87D-43FF-849F-958467AD2681}" type="parTrans" cxnId="{941278B3-FA22-4986-9479-52DCC38561C0}">
      <dgm:prSet/>
      <dgm:spPr/>
      <dgm:t>
        <a:bodyPr/>
        <a:lstStyle/>
        <a:p>
          <a:endParaRPr lang="en-US"/>
        </a:p>
      </dgm:t>
    </dgm:pt>
    <dgm:pt modelId="{28B16EC9-1D90-4927-91A3-118FDBA5914D}" type="sibTrans" cxnId="{941278B3-FA22-4986-9479-52DCC38561C0}">
      <dgm:prSet/>
      <dgm:spPr/>
      <dgm:t>
        <a:bodyPr/>
        <a:lstStyle/>
        <a:p>
          <a:endParaRPr lang="en-US"/>
        </a:p>
      </dgm:t>
    </dgm:pt>
    <dgm:pt modelId="{F9449B48-7471-4F86-96D5-C365CAF1863D}">
      <dgm:prSet/>
      <dgm:spPr/>
      <dgm:t>
        <a:bodyPr/>
        <a:lstStyle/>
        <a:p>
          <a:r>
            <a:rPr lang="en-US"/>
            <a:t>Does Length of time at current job impact this decision? </a:t>
          </a:r>
        </a:p>
      </dgm:t>
    </dgm:pt>
    <dgm:pt modelId="{B101101A-4A94-4824-8AD0-9691ED6E6A75}" type="parTrans" cxnId="{61EB5DF6-1816-4CDF-A4F1-4D31A4AE93C0}">
      <dgm:prSet/>
      <dgm:spPr/>
      <dgm:t>
        <a:bodyPr/>
        <a:lstStyle/>
        <a:p>
          <a:endParaRPr lang="en-US"/>
        </a:p>
      </dgm:t>
    </dgm:pt>
    <dgm:pt modelId="{69B252F3-F0DA-45C1-B217-B3A7FE47F13D}" type="sibTrans" cxnId="{61EB5DF6-1816-4CDF-A4F1-4D31A4AE93C0}">
      <dgm:prSet/>
      <dgm:spPr/>
      <dgm:t>
        <a:bodyPr/>
        <a:lstStyle/>
        <a:p>
          <a:endParaRPr lang="en-US"/>
        </a:p>
      </dgm:t>
    </dgm:pt>
    <dgm:pt modelId="{12C571EB-145B-48D9-B1B0-BA66ACD86633}">
      <dgm:prSet/>
      <dgm:spPr/>
      <dgm:t>
        <a:bodyPr/>
        <a:lstStyle/>
        <a:p>
          <a:r>
            <a:rPr lang="en-US"/>
            <a:t>Is current company size or company type a factor? </a:t>
          </a:r>
        </a:p>
      </dgm:t>
    </dgm:pt>
    <dgm:pt modelId="{C09E68D0-72B5-453B-B320-0675848024D1}" type="parTrans" cxnId="{684DEAA1-919A-464E-A2D8-8FAC27906741}">
      <dgm:prSet/>
      <dgm:spPr/>
      <dgm:t>
        <a:bodyPr/>
        <a:lstStyle/>
        <a:p>
          <a:endParaRPr lang="en-US"/>
        </a:p>
      </dgm:t>
    </dgm:pt>
    <dgm:pt modelId="{95102954-D4F0-4927-AD1E-55E914C97B94}" type="sibTrans" cxnId="{684DEAA1-919A-464E-A2D8-8FAC27906741}">
      <dgm:prSet/>
      <dgm:spPr/>
      <dgm:t>
        <a:bodyPr/>
        <a:lstStyle/>
        <a:p>
          <a:endParaRPr lang="en-US"/>
        </a:p>
      </dgm:t>
    </dgm:pt>
    <dgm:pt modelId="{28DDDF0F-1C44-40F1-BC61-2C6124CA0765}" type="pres">
      <dgm:prSet presAssocID="{6451D389-18C5-4ADA-B64D-2FA85F370817}" presName="linear" presStyleCnt="0">
        <dgm:presLayoutVars>
          <dgm:animLvl val="lvl"/>
          <dgm:resizeHandles val="exact"/>
        </dgm:presLayoutVars>
      </dgm:prSet>
      <dgm:spPr/>
    </dgm:pt>
    <dgm:pt modelId="{229BF279-9B37-49DE-BE8A-A9D7BA382A67}" type="pres">
      <dgm:prSet presAssocID="{BF087E5D-5318-4B7B-A69B-AE604027C6BA}" presName="parentText" presStyleLbl="node1" presStyleIdx="0" presStyleCnt="3">
        <dgm:presLayoutVars>
          <dgm:chMax val="0"/>
          <dgm:bulletEnabled val="1"/>
        </dgm:presLayoutVars>
      </dgm:prSet>
      <dgm:spPr/>
    </dgm:pt>
    <dgm:pt modelId="{CE7F2E60-022E-45F9-A3D5-316510816F55}" type="pres">
      <dgm:prSet presAssocID="{28B16EC9-1D90-4927-91A3-118FDBA5914D}" presName="spacer" presStyleCnt="0"/>
      <dgm:spPr/>
    </dgm:pt>
    <dgm:pt modelId="{BD964404-01C4-4F53-9BE4-F6C4F88799E0}" type="pres">
      <dgm:prSet presAssocID="{F9449B48-7471-4F86-96D5-C365CAF1863D}" presName="parentText" presStyleLbl="node1" presStyleIdx="1" presStyleCnt="3">
        <dgm:presLayoutVars>
          <dgm:chMax val="0"/>
          <dgm:bulletEnabled val="1"/>
        </dgm:presLayoutVars>
      </dgm:prSet>
      <dgm:spPr/>
    </dgm:pt>
    <dgm:pt modelId="{ED53BA1C-B23A-4248-B435-8A8791BC3749}" type="pres">
      <dgm:prSet presAssocID="{69B252F3-F0DA-45C1-B217-B3A7FE47F13D}" presName="spacer" presStyleCnt="0"/>
      <dgm:spPr/>
    </dgm:pt>
    <dgm:pt modelId="{6D58A0EF-0B0F-46EE-A691-055130E8DAA5}" type="pres">
      <dgm:prSet presAssocID="{12C571EB-145B-48D9-B1B0-BA66ACD86633}" presName="parentText" presStyleLbl="node1" presStyleIdx="2" presStyleCnt="3">
        <dgm:presLayoutVars>
          <dgm:chMax val="0"/>
          <dgm:bulletEnabled val="1"/>
        </dgm:presLayoutVars>
      </dgm:prSet>
      <dgm:spPr/>
    </dgm:pt>
  </dgm:ptLst>
  <dgm:cxnLst>
    <dgm:cxn modelId="{E1148087-C932-4190-AB49-9A52F92B3A92}" type="presOf" srcId="{BF087E5D-5318-4B7B-A69B-AE604027C6BA}" destId="{229BF279-9B37-49DE-BE8A-A9D7BA382A67}" srcOrd="0" destOrd="0" presId="urn:microsoft.com/office/officeart/2005/8/layout/vList2"/>
    <dgm:cxn modelId="{684DEAA1-919A-464E-A2D8-8FAC27906741}" srcId="{6451D389-18C5-4ADA-B64D-2FA85F370817}" destId="{12C571EB-145B-48D9-B1B0-BA66ACD86633}" srcOrd="2" destOrd="0" parTransId="{C09E68D0-72B5-453B-B320-0675848024D1}" sibTransId="{95102954-D4F0-4927-AD1E-55E914C97B94}"/>
    <dgm:cxn modelId="{4EFC8BA8-5FF2-4495-8607-9467B51BCFBF}" type="presOf" srcId="{F9449B48-7471-4F86-96D5-C365CAF1863D}" destId="{BD964404-01C4-4F53-9BE4-F6C4F88799E0}" srcOrd="0" destOrd="0" presId="urn:microsoft.com/office/officeart/2005/8/layout/vList2"/>
    <dgm:cxn modelId="{941278B3-FA22-4986-9479-52DCC38561C0}" srcId="{6451D389-18C5-4ADA-B64D-2FA85F370817}" destId="{BF087E5D-5318-4B7B-A69B-AE604027C6BA}" srcOrd="0" destOrd="0" parTransId="{BFE9247A-D87D-43FF-849F-958467AD2681}" sibTransId="{28B16EC9-1D90-4927-91A3-118FDBA5914D}"/>
    <dgm:cxn modelId="{8B9F4ABA-4E68-424F-8DBA-D9FD4556A944}" type="presOf" srcId="{6451D389-18C5-4ADA-B64D-2FA85F370817}" destId="{28DDDF0F-1C44-40F1-BC61-2C6124CA0765}" srcOrd="0" destOrd="0" presId="urn:microsoft.com/office/officeart/2005/8/layout/vList2"/>
    <dgm:cxn modelId="{AEBA86D4-7673-496D-A5A3-754744253708}" type="presOf" srcId="{12C571EB-145B-48D9-B1B0-BA66ACD86633}" destId="{6D58A0EF-0B0F-46EE-A691-055130E8DAA5}" srcOrd="0" destOrd="0" presId="urn:microsoft.com/office/officeart/2005/8/layout/vList2"/>
    <dgm:cxn modelId="{61EB5DF6-1816-4CDF-A4F1-4D31A4AE93C0}" srcId="{6451D389-18C5-4ADA-B64D-2FA85F370817}" destId="{F9449B48-7471-4F86-96D5-C365CAF1863D}" srcOrd="1" destOrd="0" parTransId="{B101101A-4A94-4824-8AD0-9691ED6E6A75}" sibTransId="{69B252F3-F0DA-45C1-B217-B3A7FE47F13D}"/>
    <dgm:cxn modelId="{BB14348B-BEA3-4E86-9D12-F6A172B0C2E9}" type="presParOf" srcId="{28DDDF0F-1C44-40F1-BC61-2C6124CA0765}" destId="{229BF279-9B37-49DE-BE8A-A9D7BA382A67}" srcOrd="0" destOrd="0" presId="urn:microsoft.com/office/officeart/2005/8/layout/vList2"/>
    <dgm:cxn modelId="{13E94C72-B998-4191-9EF1-7D05B3A969D0}" type="presParOf" srcId="{28DDDF0F-1C44-40F1-BC61-2C6124CA0765}" destId="{CE7F2E60-022E-45F9-A3D5-316510816F55}" srcOrd="1" destOrd="0" presId="urn:microsoft.com/office/officeart/2005/8/layout/vList2"/>
    <dgm:cxn modelId="{5E2A700D-0CB0-406D-B26B-634246FA283B}" type="presParOf" srcId="{28DDDF0F-1C44-40F1-BC61-2C6124CA0765}" destId="{BD964404-01C4-4F53-9BE4-F6C4F88799E0}" srcOrd="2" destOrd="0" presId="urn:microsoft.com/office/officeart/2005/8/layout/vList2"/>
    <dgm:cxn modelId="{D0016B26-38B9-429D-BE60-6BA3D5827F31}" type="presParOf" srcId="{28DDDF0F-1C44-40F1-BC61-2C6124CA0765}" destId="{ED53BA1C-B23A-4248-B435-8A8791BC3749}" srcOrd="3" destOrd="0" presId="urn:microsoft.com/office/officeart/2005/8/layout/vList2"/>
    <dgm:cxn modelId="{7CD8D591-085B-4121-9DA5-29DC60151E55}" type="presParOf" srcId="{28DDDF0F-1C44-40F1-BC61-2C6124CA0765}" destId="{6D58A0EF-0B0F-46EE-A691-055130E8DAA5}"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DEFBDA2-5EEF-44A7-AB88-04328212C98B}" type="doc">
      <dgm:prSet loTypeId="urn:microsoft.com/office/officeart/2005/8/layout/cycle2" loCatId="cycle" qsTypeId="urn:microsoft.com/office/officeart/2005/8/quickstyle/simple1" qsCatId="simple" csTypeId="urn:microsoft.com/office/officeart/2005/8/colors/accent1_2" csCatId="accent1" phldr="1"/>
      <dgm:spPr/>
      <dgm:t>
        <a:bodyPr/>
        <a:lstStyle/>
        <a:p>
          <a:endParaRPr lang="en-US"/>
        </a:p>
      </dgm:t>
    </dgm:pt>
    <dgm:pt modelId="{1E6F5A53-5D0E-42AB-B2B2-63A7CC5942B7}">
      <dgm:prSet/>
      <dgm:spPr/>
      <dgm:t>
        <a:bodyPr/>
        <a:lstStyle/>
        <a:p>
          <a:pPr algn="ctr"/>
          <a:r>
            <a:rPr lang="en-US" dirty="0"/>
            <a:t>Initially this dataset started with 13 variables, primarily categorical. The variables I intend to use are:</a:t>
          </a:r>
        </a:p>
      </dgm:t>
    </dgm:pt>
    <dgm:pt modelId="{E3B52E7A-E298-480D-8828-6A8FC76C06DB}" type="parTrans" cxnId="{7C1A23B9-6D34-4CC2-B212-B64B9A3BF7F4}">
      <dgm:prSet/>
      <dgm:spPr/>
      <dgm:t>
        <a:bodyPr/>
        <a:lstStyle/>
        <a:p>
          <a:endParaRPr lang="en-US"/>
        </a:p>
      </dgm:t>
    </dgm:pt>
    <dgm:pt modelId="{5B1424C7-F792-44D0-942E-BDB3E0FA9FFE}" type="sibTrans" cxnId="{7C1A23B9-6D34-4CC2-B212-B64B9A3BF7F4}">
      <dgm:prSet/>
      <dgm:spPr/>
      <dgm:t>
        <a:bodyPr/>
        <a:lstStyle/>
        <a:p>
          <a:endParaRPr lang="en-US"/>
        </a:p>
      </dgm:t>
    </dgm:pt>
    <dgm:pt modelId="{CEDB31F9-434F-4E3F-B554-250D32233BC3}">
      <dgm:prSet/>
      <dgm:spPr/>
      <dgm:t>
        <a:bodyPr/>
        <a:lstStyle/>
        <a:p>
          <a:pPr algn="l"/>
          <a:r>
            <a:rPr lang="en-US" dirty="0" err="1"/>
            <a:t>relevent_experience</a:t>
          </a:r>
          <a:endParaRPr lang="en-US" dirty="0"/>
        </a:p>
      </dgm:t>
    </dgm:pt>
    <dgm:pt modelId="{A3C5B72F-8BCE-4156-9F44-A89A5E589FFA}" type="parTrans" cxnId="{DBADAF8C-9648-4D4B-BF0B-477632417483}">
      <dgm:prSet/>
      <dgm:spPr/>
      <dgm:t>
        <a:bodyPr/>
        <a:lstStyle/>
        <a:p>
          <a:endParaRPr lang="en-US"/>
        </a:p>
      </dgm:t>
    </dgm:pt>
    <dgm:pt modelId="{BCE185F9-7B19-49B7-87AD-E3BAF1E188E3}" type="sibTrans" cxnId="{DBADAF8C-9648-4D4B-BF0B-477632417483}">
      <dgm:prSet/>
      <dgm:spPr/>
      <dgm:t>
        <a:bodyPr/>
        <a:lstStyle/>
        <a:p>
          <a:endParaRPr lang="en-US"/>
        </a:p>
      </dgm:t>
    </dgm:pt>
    <dgm:pt modelId="{1BD6D9FD-E6ED-414F-A796-F688FB16FA63}">
      <dgm:prSet/>
      <dgm:spPr/>
      <dgm:t>
        <a:bodyPr/>
        <a:lstStyle/>
        <a:p>
          <a:pPr algn="l"/>
          <a:r>
            <a:rPr lang="en-US"/>
            <a:t>education_level</a:t>
          </a:r>
        </a:p>
      </dgm:t>
    </dgm:pt>
    <dgm:pt modelId="{AE0FB88C-B9EB-4CCC-AE30-24C9C6C255D7}" type="parTrans" cxnId="{FB41042E-4CC5-49FD-A960-C6A99FEE3A70}">
      <dgm:prSet/>
      <dgm:spPr/>
      <dgm:t>
        <a:bodyPr/>
        <a:lstStyle/>
        <a:p>
          <a:endParaRPr lang="en-US"/>
        </a:p>
      </dgm:t>
    </dgm:pt>
    <dgm:pt modelId="{6258705E-A1B6-4189-9280-45F64CB562DB}" type="sibTrans" cxnId="{FB41042E-4CC5-49FD-A960-C6A99FEE3A70}">
      <dgm:prSet/>
      <dgm:spPr/>
      <dgm:t>
        <a:bodyPr/>
        <a:lstStyle/>
        <a:p>
          <a:endParaRPr lang="en-US"/>
        </a:p>
      </dgm:t>
    </dgm:pt>
    <dgm:pt modelId="{346C3D49-FABD-4524-BBB1-A849BFFA7F78}">
      <dgm:prSet/>
      <dgm:spPr/>
      <dgm:t>
        <a:bodyPr/>
        <a:lstStyle/>
        <a:p>
          <a:pPr algn="l"/>
          <a:r>
            <a:rPr lang="en-US"/>
            <a:t>major_discipline</a:t>
          </a:r>
        </a:p>
      </dgm:t>
    </dgm:pt>
    <dgm:pt modelId="{D6ABE1A0-A4BB-4396-807C-5FB51C3DEBFE}" type="parTrans" cxnId="{DF1A4EAA-4F46-424F-9E9F-2A75ED6919E1}">
      <dgm:prSet/>
      <dgm:spPr/>
      <dgm:t>
        <a:bodyPr/>
        <a:lstStyle/>
        <a:p>
          <a:endParaRPr lang="en-US"/>
        </a:p>
      </dgm:t>
    </dgm:pt>
    <dgm:pt modelId="{10A2F096-79C7-4C2E-A9B0-4A171A406196}" type="sibTrans" cxnId="{DF1A4EAA-4F46-424F-9E9F-2A75ED6919E1}">
      <dgm:prSet/>
      <dgm:spPr/>
      <dgm:t>
        <a:bodyPr/>
        <a:lstStyle/>
        <a:p>
          <a:endParaRPr lang="en-US"/>
        </a:p>
      </dgm:t>
    </dgm:pt>
    <dgm:pt modelId="{4AC37E62-1EBF-4068-B4C0-9C44B2A15628}">
      <dgm:prSet/>
      <dgm:spPr/>
      <dgm:t>
        <a:bodyPr/>
        <a:lstStyle/>
        <a:p>
          <a:pPr algn="l"/>
          <a:r>
            <a:rPr lang="en-US"/>
            <a:t>experience</a:t>
          </a:r>
        </a:p>
      </dgm:t>
    </dgm:pt>
    <dgm:pt modelId="{4F42F1D2-FE9B-4BB3-86A6-55490068EB80}" type="parTrans" cxnId="{27F3C7CA-8D7B-4DF1-BB7D-FCD78BC367A5}">
      <dgm:prSet/>
      <dgm:spPr/>
      <dgm:t>
        <a:bodyPr/>
        <a:lstStyle/>
        <a:p>
          <a:endParaRPr lang="en-US"/>
        </a:p>
      </dgm:t>
    </dgm:pt>
    <dgm:pt modelId="{A667506F-92C8-49AC-BB6A-897AD5327D6E}" type="sibTrans" cxnId="{27F3C7CA-8D7B-4DF1-BB7D-FCD78BC367A5}">
      <dgm:prSet/>
      <dgm:spPr/>
      <dgm:t>
        <a:bodyPr/>
        <a:lstStyle/>
        <a:p>
          <a:endParaRPr lang="en-US"/>
        </a:p>
      </dgm:t>
    </dgm:pt>
    <dgm:pt modelId="{AEF636E8-CB34-47C7-8B10-F24AD6602784}">
      <dgm:prSet/>
      <dgm:spPr/>
      <dgm:t>
        <a:bodyPr/>
        <a:lstStyle/>
        <a:p>
          <a:pPr algn="l"/>
          <a:r>
            <a:rPr lang="en-US" dirty="0" err="1"/>
            <a:t>company_size</a:t>
          </a:r>
          <a:endParaRPr lang="en-US" dirty="0"/>
        </a:p>
      </dgm:t>
    </dgm:pt>
    <dgm:pt modelId="{26DAAA17-F2CB-436B-97CE-88AEB06035D2}" type="parTrans" cxnId="{794BFE2C-0CAB-4F6E-B580-B840558B9EDF}">
      <dgm:prSet/>
      <dgm:spPr/>
      <dgm:t>
        <a:bodyPr/>
        <a:lstStyle/>
        <a:p>
          <a:endParaRPr lang="en-US"/>
        </a:p>
      </dgm:t>
    </dgm:pt>
    <dgm:pt modelId="{A58B55E3-4FB5-4B22-81CD-476C04A182AB}" type="sibTrans" cxnId="{794BFE2C-0CAB-4F6E-B580-B840558B9EDF}">
      <dgm:prSet/>
      <dgm:spPr/>
      <dgm:t>
        <a:bodyPr/>
        <a:lstStyle/>
        <a:p>
          <a:endParaRPr lang="en-US"/>
        </a:p>
      </dgm:t>
    </dgm:pt>
    <dgm:pt modelId="{0F9ACF97-913C-4675-9B4C-BC864E95A645}">
      <dgm:prSet/>
      <dgm:spPr/>
      <dgm:t>
        <a:bodyPr/>
        <a:lstStyle/>
        <a:p>
          <a:pPr algn="l"/>
          <a:r>
            <a:rPr lang="en-US"/>
            <a:t>company_type</a:t>
          </a:r>
        </a:p>
      </dgm:t>
    </dgm:pt>
    <dgm:pt modelId="{2D29DF9E-66A6-4CA5-856C-E6457CD44EDA}" type="parTrans" cxnId="{35DA9C1D-D02F-449D-949B-DAF182096FA7}">
      <dgm:prSet/>
      <dgm:spPr/>
      <dgm:t>
        <a:bodyPr/>
        <a:lstStyle/>
        <a:p>
          <a:endParaRPr lang="en-US"/>
        </a:p>
      </dgm:t>
    </dgm:pt>
    <dgm:pt modelId="{9622EA68-285F-4F78-B71B-1107A2B8DB80}" type="sibTrans" cxnId="{35DA9C1D-D02F-449D-949B-DAF182096FA7}">
      <dgm:prSet/>
      <dgm:spPr/>
      <dgm:t>
        <a:bodyPr/>
        <a:lstStyle/>
        <a:p>
          <a:endParaRPr lang="en-US"/>
        </a:p>
      </dgm:t>
    </dgm:pt>
    <dgm:pt modelId="{716B1936-1A06-424B-B121-2BDAE5AC22FF}">
      <dgm:prSet/>
      <dgm:spPr/>
      <dgm:t>
        <a:bodyPr/>
        <a:lstStyle/>
        <a:p>
          <a:pPr algn="l"/>
          <a:r>
            <a:rPr lang="en-US" dirty="0" err="1"/>
            <a:t>last_new_job</a:t>
          </a:r>
          <a:endParaRPr lang="en-US" dirty="0"/>
        </a:p>
      </dgm:t>
    </dgm:pt>
    <dgm:pt modelId="{614FE97A-21DE-4193-80AD-8F56C0DDB4B0}" type="parTrans" cxnId="{97C74D4E-9FA5-4B69-8DD7-D58BCC99F388}">
      <dgm:prSet/>
      <dgm:spPr/>
      <dgm:t>
        <a:bodyPr/>
        <a:lstStyle/>
        <a:p>
          <a:endParaRPr lang="en-US"/>
        </a:p>
      </dgm:t>
    </dgm:pt>
    <dgm:pt modelId="{4E6C9552-E317-49DD-8959-8CC0DC90546B}" type="sibTrans" cxnId="{97C74D4E-9FA5-4B69-8DD7-D58BCC99F388}">
      <dgm:prSet/>
      <dgm:spPr/>
      <dgm:t>
        <a:bodyPr/>
        <a:lstStyle/>
        <a:p>
          <a:endParaRPr lang="en-US"/>
        </a:p>
      </dgm:t>
    </dgm:pt>
    <dgm:pt modelId="{F0067170-2636-44C1-8EAC-B3D03C3DA1AB}" type="pres">
      <dgm:prSet presAssocID="{EDEFBDA2-5EEF-44A7-AB88-04328212C98B}" presName="cycle" presStyleCnt="0">
        <dgm:presLayoutVars>
          <dgm:dir/>
          <dgm:resizeHandles val="exact"/>
        </dgm:presLayoutVars>
      </dgm:prSet>
      <dgm:spPr/>
    </dgm:pt>
    <dgm:pt modelId="{9BE6D66C-D2F2-46BC-B04E-E6CA4246C3A9}" type="pres">
      <dgm:prSet presAssocID="{1E6F5A53-5D0E-42AB-B2B2-63A7CC5942B7}" presName="node" presStyleLbl="node1" presStyleIdx="0" presStyleCnt="1" custRadScaleRad="73562" custRadScaleInc="5">
        <dgm:presLayoutVars>
          <dgm:bulletEnabled val="1"/>
        </dgm:presLayoutVars>
      </dgm:prSet>
      <dgm:spPr/>
    </dgm:pt>
  </dgm:ptLst>
  <dgm:cxnLst>
    <dgm:cxn modelId="{35DA9C1D-D02F-449D-949B-DAF182096FA7}" srcId="{1E6F5A53-5D0E-42AB-B2B2-63A7CC5942B7}" destId="{0F9ACF97-913C-4675-9B4C-BC864E95A645}" srcOrd="5" destOrd="0" parTransId="{2D29DF9E-66A6-4CA5-856C-E6457CD44EDA}" sibTransId="{9622EA68-285F-4F78-B71B-1107A2B8DB80}"/>
    <dgm:cxn modelId="{794BFE2C-0CAB-4F6E-B580-B840558B9EDF}" srcId="{1E6F5A53-5D0E-42AB-B2B2-63A7CC5942B7}" destId="{AEF636E8-CB34-47C7-8B10-F24AD6602784}" srcOrd="4" destOrd="0" parTransId="{26DAAA17-F2CB-436B-97CE-88AEB06035D2}" sibTransId="{A58B55E3-4FB5-4B22-81CD-476C04A182AB}"/>
    <dgm:cxn modelId="{FB41042E-4CC5-49FD-A960-C6A99FEE3A70}" srcId="{1E6F5A53-5D0E-42AB-B2B2-63A7CC5942B7}" destId="{1BD6D9FD-E6ED-414F-A796-F688FB16FA63}" srcOrd="1" destOrd="0" parTransId="{AE0FB88C-B9EB-4CCC-AE30-24C9C6C255D7}" sibTransId="{6258705E-A1B6-4189-9280-45F64CB562DB}"/>
    <dgm:cxn modelId="{5B11F634-2DEC-4A70-BC7F-408D4C7EEC1D}" type="presOf" srcId="{1E6F5A53-5D0E-42AB-B2B2-63A7CC5942B7}" destId="{9BE6D66C-D2F2-46BC-B04E-E6CA4246C3A9}" srcOrd="0" destOrd="0" presId="urn:microsoft.com/office/officeart/2005/8/layout/cycle2"/>
    <dgm:cxn modelId="{56457639-3B31-48E6-BF91-0594BDF069DC}" type="presOf" srcId="{1BD6D9FD-E6ED-414F-A796-F688FB16FA63}" destId="{9BE6D66C-D2F2-46BC-B04E-E6CA4246C3A9}" srcOrd="0" destOrd="2" presId="urn:microsoft.com/office/officeart/2005/8/layout/cycle2"/>
    <dgm:cxn modelId="{281D835B-FE72-4885-BA56-C6C952D89735}" type="presOf" srcId="{0F9ACF97-913C-4675-9B4C-BC864E95A645}" destId="{9BE6D66C-D2F2-46BC-B04E-E6CA4246C3A9}" srcOrd="0" destOrd="6" presId="urn:microsoft.com/office/officeart/2005/8/layout/cycle2"/>
    <dgm:cxn modelId="{F0487D5C-1ABC-4C47-A779-683A5789F88B}" type="presOf" srcId="{346C3D49-FABD-4524-BBB1-A849BFFA7F78}" destId="{9BE6D66C-D2F2-46BC-B04E-E6CA4246C3A9}" srcOrd="0" destOrd="3" presId="urn:microsoft.com/office/officeart/2005/8/layout/cycle2"/>
    <dgm:cxn modelId="{B5AB9D41-0348-4E77-8611-D284BE6B3057}" type="presOf" srcId="{716B1936-1A06-424B-B121-2BDAE5AC22FF}" destId="{9BE6D66C-D2F2-46BC-B04E-E6CA4246C3A9}" srcOrd="0" destOrd="7" presId="urn:microsoft.com/office/officeart/2005/8/layout/cycle2"/>
    <dgm:cxn modelId="{97C74D4E-9FA5-4B69-8DD7-D58BCC99F388}" srcId="{1E6F5A53-5D0E-42AB-B2B2-63A7CC5942B7}" destId="{716B1936-1A06-424B-B121-2BDAE5AC22FF}" srcOrd="6" destOrd="0" parTransId="{614FE97A-21DE-4193-80AD-8F56C0DDB4B0}" sibTransId="{4E6C9552-E317-49DD-8959-8CC0DC90546B}"/>
    <dgm:cxn modelId="{114E4184-1758-4C25-B41A-D9C94A1F810E}" type="presOf" srcId="{4AC37E62-1EBF-4068-B4C0-9C44B2A15628}" destId="{9BE6D66C-D2F2-46BC-B04E-E6CA4246C3A9}" srcOrd="0" destOrd="4" presId="urn:microsoft.com/office/officeart/2005/8/layout/cycle2"/>
    <dgm:cxn modelId="{DBADAF8C-9648-4D4B-BF0B-477632417483}" srcId="{1E6F5A53-5D0E-42AB-B2B2-63A7CC5942B7}" destId="{CEDB31F9-434F-4E3F-B554-250D32233BC3}" srcOrd="0" destOrd="0" parTransId="{A3C5B72F-8BCE-4156-9F44-A89A5E589FFA}" sibTransId="{BCE185F9-7B19-49B7-87AD-E3BAF1E188E3}"/>
    <dgm:cxn modelId="{C027F6A9-AD86-4120-A5CB-5B6FDD4A7A6A}" type="presOf" srcId="{AEF636E8-CB34-47C7-8B10-F24AD6602784}" destId="{9BE6D66C-D2F2-46BC-B04E-E6CA4246C3A9}" srcOrd="0" destOrd="5" presId="urn:microsoft.com/office/officeart/2005/8/layout/cycle2"/>
    <dgm:cxn modelId="{DF1A4EAA-4F46-424F-9E9F-2A75ED6919E1}" srcId="{1E6F5A53-5D0E-42AB-B2B2-63A7CC5942B7}" destId="{346C3D49-FABD-4524-BBB1-A849BFFA7F78}" srcOrd="2" destOrd="0" parTransId="{D6ABE1A0-A4BB-4396-807C-5FB51C3DEBFE}" sibTransId="{10A2F096-79C7-4C2E-A9B0-4A171A406196}"/>
    <dgm:cxn modelId="{7C1A23B9-6D34-4CC2-B212-B64B9A3BF7F4}" srcId="{EDEFBDA2-5EEF-44A7-AB88-04328212C98B}" destId="{1E6F5A53-5D0E-42AB-B2B2-63A7CC5942B7}" srcOrd="0" destOrd="0" parTransId="{E3B52E7A-E298-480D-8828-6A8FC76C06DB}" sibTransId="{5B1424C7-F792-44D0-942E-BDB3E0FA9FFE}"/>
    <dgm:cxn modelId="{27F3C7CA-8D7B-4DF1-BB7D-FCD78BC367A5}" srcId="{1E6F5A53-5D0E-42AB-B2B2-63A7CC5942B7}" destId="{4AC37E62-1EBF-4068-B4C0-9C44B2A15628}" srcOrd="3" destOrd="0" parTransId="{4F42F1D2-FE9B-4BB3-86A6-55490068EB80}" sibTransId="{A667506F-92C8-49AC-BB6A-897AD5327D6E}"/>
    <dgm:cxn modelId="{E2118BD8-1907-492C-A148-F2D55DEB9675}" type="presOf" srcId="{EDEFBDA2-5EEF-44A7-AB88-04328212C98B}" destId="{F0067170-2636-44C1-8EAC-B3D03C3DA1AB}" srcOrd="0" destOrd="0" presId="urn:microsoft.com/office/officeart/2005/8/layout/cycle2"/>
    <dgm:cxn modelId="{88B957FC-95D7-41F3-B683-72C436DC37C5}" type="presOf" srcId="{CEDB31F9-434F-4E3F-B554-250D32233BC3}" destId="{9BE6D66C-D2F2-46BC-B04E-E6CA4246C3A9}" srcOrd="0" destOrd="1" presId="urn:microsoft.com/office/officeart/2005/8/layout/cycle2"/>
    <dgm:cxn modelId="{C1D7398A-9682-4D28-8AC9-47CCFADE4DB5}" type="presParOf" srcId="{F0067170-2636-44C1-8EAC-B3D03C3DA1AB}" destId="{9BE6D66C-D2F2-46BC-B04E-E6CA4246C3A9}" srcOrd="0" destOrd="0" presId="urn:microsoft.com/office/officeart/2005/8/layout/cycle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42DC1E2D-81BB-40FB-AEE0-A2D7093120EB}"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42B03147-4C01-4774-8A0A-E8D464FC1B9E}">
      <dgm:prSet/>
      <dgm:spPr/>
      <dgm:t>
        <a:bodyPr/>
        <a:lstStyle/>
        <a:p>
          <a:r>
            <a:rPr lang="en-US"/>
            <a:t>relevent_experience – This was a binary variable ‘Has relevant experience’ and ‘No relevant experience’</a:t>
          </a:r>
        </a:p>
      </dgm:t>
    </dgm:pt>
    <dgm:pt modelId="{1DD00BBB-2FAB-4281-8369-F6F0C7B70C8D}" type="parTrans" cxnId="{35622192-10AC-4B91-955F-FFCD4EA7464C}">
      <dgm:prSet/>
      <dgm:spPr/>
      <dgm:t>
        <a:bodyPr/>
        <a:lstStyle/>
        <a:p>
          <a:endParaRPr lang="en-US"/>
        </a:p>
      </dgm:t>
    </dgm:pt>
    <dgm:pt modelId="{C8431B8D-EFB7-4B70-80AD-B626BB7E7F9A}" type="sibTrans" cxnId="{35622192-10AC-4B91-955F-FFCD4EA7464C}">
      <dgm:prSet/>
      <dgm:spPr/>
      <dgm:t>
        <a:bodyPr/>
        <a:lstStyle/>
        <a:p>
          <a:endParaRPr lang="en-US"/>
        </a:p>
      </dgm:t>
    </dgm:pt>
    <dgm:pt modelId="{5B7C6237-7B99-4ECB-8B9E-BC51DBB0FC88}">
      <dgm:prSet/>
      <dgm:spPr/>
      <dgm:t>
        <a:bodyPr/>
        <a:lstStyle/>
        <a:p>
          <a:r>
            <a:rPr lang="en-US"/>
            <a:t>Education_level – This variable had four options ‘High School’, ‘Graduate’, ‘Masters’ and ‘Phd’ </a:t>
          </a:r>
        </a:p>
      </dgm:t>
    </dgm:pt>
    <dgm:pt modelId="{FBB4B11D-BDD7-469B-835F-44BE8AC13FC9}" type="parTrans" cxnId="{3D587F6F-9E90-4AF5-9B82-04A1C00C1C70}">
      <dgm:prSet/>
      <dgm:spPr/>
      <dgm:t>
        <a:bodyPr/>
        <a:lstStyle/>
        <a:p>
          <a:endParaRPr lang="en-US"/>
        </a:p>
      </dgm:t>
    </dgm:pt>
    <dgm:pt modelId="{264CAE3E-2E82-4217-9606-F6AC30685085}" type="sibTrans" cxnId="{3D587F6F-9E90-4AF5-9B82-04A1C00C1C70}">
      <dgm:prSet/>
      <dgm:spPr/>
      <dgm:t>
        <a:bodyPr/>
        <a:lstStyle/>
        <a:p>
          <a:endParaRPr lang="en-US"/>
        </a:p>
      </dgm:t>
    </dgm:pt>
    <dgm:pt modelId="{CCD15981-D216-439B-A8D2-21D87DD1FD7C}">
      <dgm:prSet/>
      <dgm:spPr/>
      <dgm:t>
        <a:bodyPr/>
        <a:lstStyle/>
        <a:p>
          <a:r>
            <a:rPr lang="en-US"/>
            <a:t>Major_discipline – Included Arts, Business, Humanities, No Major, Other and STEM</a:t>
          </a:r>
        </a:p>
      </dgm:t>
    </dgm:pt>
    <dgm:pt modelId="{969E2578-F72E-433D-9203-5272082A2B09}" type="parTrans" cxnId="{D1260A63-342C-4830-9794-ADDB1D2D7838}">
      <dgm:prSet/>
      <dgm:spPr/>
      <dgm:t>
        <a:bodyPr/>
        <a:lstStyle/>
        <a:p>
          <a:endParaRPr lang="en-US"/>
        </a:p>
      </dgm:t>
    </dgm:pt>
    <dgm:pt modelId="{F466BE12-FB43-41DC-9381-5BED57483971}" type="sibTrans" cxnId="{D1260A63-342C-4830-9794-ADDB1D2D7838}">
      <dgm:prSet/>
      <dgm:spPr/>
      <dgm:t>
        <a:bodyPr/>
        <a:lstStyle/>
        <a:p>
          <a:endParaRPr lang="en-US"/>
        </a:p>
      </dgm:t>
    </dgm:pt>
    <dgm:pt modelId="{6CEFD04B-5853-4B9C-8278-DD6FA77B3FBB}">
      <dgm:prSet/>
      <dgm:spPr/>
      <dgm:t>
        <a:bodyPr/>
        <a:lstStyle/>
        <a:p>
          <a:r>
            <a:rPr lang="en-US"/>
            <a:t>Experience – experience in years ranging from less than 1 year to more than 20 years</a:t>
          </a:r>
        </a:p>
      </dgm:t>
    </dgm:pt>
    <dgm:pt modelId="{3AF2219E-0CFA-4274-B056-7FBFC244EB1B}" type="parTrans" cxnId="{6FD40D89-AB0B-4252-B8FC-7CDDCA8C6810}">
      <dgm:prSet/>
      <dgm:spPr/>
      <dgm:t>
        <a:bodyPr/>
        <a:lstStyle/>
        <a:p>
          <a:endParaRPr lang="en-US"/>
        </a:p>
      </dgm:t>
    </dgm:pt>
    <dgm:pt modelId="{DF32B580-AD06-47AF-9388-D602AA94545E}" type="sibTrans" cxnId="{6FD40D89-AB0B-4252-B8FC-7CDDCA8C6810}">
      <dgm:prSet/>
      <dgm:spPr/>
      <dgm:t>
        <a:bodyPr/>
        <a:lstStyle/>
        <a:p>
          <a:endParaRPr lang="en-US"/>
        </a:p>
      </dgm:t>
    </dgm:pt>
    <dgm:pt modelId="{457D069C-47A5-411E-8C74-07E644A86513}">
      <dgm:prSet/>
      <dgm:spPr/>
      <dgm:t>
        <a:bodyPr/>
        <a:lstStyle/>
        <a:p>
          <a:r>
            <a:rPr lang="en-US"/>
            <a:t>Company_size – Divided into 8 groups of less than 10 to greater than 10000</a:t>
          </a:r>
        </a:p>
      </dgm:t>
    </dgm:pt>
    <dgm:pt modelId="{4E78448B-7FAD-44AC-A5DE-BF8F58138214}" type="parTrans" cxnId="{A16E0769-A14F-4461-B094-8C45B594955D}">
      <dgm:prSet/>
      <dgm:spPr/>
      <dgm:t>
        <a:bodyPr/>
        <a:lstStyle/>
        <a:p>
          <a:endParaRPr lang="en-US"/>
        </a:p>
      </dgm:t>
    </dgm:pt>
    <dgm:pt modelId="{50BE3FF8-D041-4C34-8635-9B9DE0D1D7BD}" type="sibTrans" cxnId="{A16E0769-A14F-4461-B094-8C45B594955D}">
      <dgm:prSet/>
      <dgm:spPr/>
      <dgm:t>
        <a:bodyPr/>
        <a:lstStyle/>
        <a:p>
          <a:endParaRPr lang="en-US"/>
        </a:p>
      </dgm:t>
    </dgm:pt>
    <dgm:pt modelId="{CCBECED5-E8ED-4AA3-A7FB-64DA99609CAD}">
      <dgm:prSet/>
      <dgm:spPr/>
      <dgm:t>
        <a:bodyPr/>
        <a:lstStyle/>
        <a:p>
          <a:r>
            <a:rPr lang="en-US"/>
            <a:t>Company_type – Divided into groups PVT ltd, startup, public sector, early stage startup, other</a:t>
          </a:r>
        </a:p>
      </dgm:t>
    </dgm:pt>
    <dgm:pt modelId="{E4DB8C0E-7E74-412B-A31E-8E3A9DA198A0}" type="parTrans" cxnId="{37F5DE15-0659-4CD0-B144-FC81CC3A2877}">
      <dgm:prSet/>
      <dgm:spPr/>
      <dgm:t>
        <a:bodyPr/>
        <a:lstStyle/>
        <a:p>
          <a:endParaRPr lang="en-US"/>
        </a:p>
      </dgm:t>
    </dgm:pt>
    <dgm:pt modelId="{190C953D-DE56-4B8F-9E67-08A28FB4D54C}" type="sibTrans" cxnId="{37F5DE15-0659-4CD0-B144-FC81CC3A2877}">
      <dgm:prSet/>
      <dgm:spPr/>
      <dgm:t>
        <a:bodyPr/>
        <a:lstStyle/>
        <a:p>
          <a:endParaRPr lang="en-US"/>
        </a:p>
      </dgm:t>
    </dgm:pt>
    <dgm:pt modelId="{9C747673-1D7B-41E2-BFD3-1C1DED7C858F}">
      <dgm:prSet/>
      <dgm:spPr/>
      <dgm:t>
        <a:bodyPr/>
        <a:lstStyle/>
        <a:p>
          <a:r>
            <a:rPr lang="en-US"/>
            <a:t>Last_new_job – indicates last new job respondent started ranging from 1 year to 4+ years</a:t>
          </a:r>
        </a:p>
      </dgm:t>
    </dgm:pt>
    <dgm:pt modelId="{0716CCDD-B68E-4614-A034-B5ABAE26B1CE}" type="parTrans" cxnId="{22D2095B-4635-47E7-AB2D-506A9483309E}">
      <dgm:prSet/>
      <dgm:spPr/>
      <dgm:t>
        <a:bodyPr/>
        <a:lstStyle/>
        <a:p>
          <a:endParaRPr lang="en-US"/>
        </a:p>
      </dgm:t>
    </dgm:pt>
    <dgm:pt modelId="{9DA01CA9-18FD-40AE-8700-DA2BB708D78F}" type="sibTrans" cxnId="{22D2095B-4635-47E7-AB2D-506A9483309E}">
      <dgm:prSet/>
      <dgm:spPr/>
      <dgm:t>
        <a:bodyPr/>
        <a:lstStyle/>
        <a:p>
          <a:endParaRPr lang="en-US"/>
        </a:p>
      </dgm:t>
    </dgm:pt>
    <dgm:pt modelId="{C544E5FF-FBBD-4274-9AEA-F38A621CEB9B}" type="pres">
      <dgm:prSet presAssocID="{42DC1E2D-81BB-40FB-AEE0-A2D7093120EB}" presName="linear" presStyleCnt="0">
        <dgm:presLayoutVars>
          <dgm:animLvl val="lvl"/>
          <dgm:resizeHandles val="exact"/>
        </dgm:presLayoutVars>
      </dgm:prSet>
      <dgm:spPr/>
    </dgm:pt>
    <dgm:pt modelId="{C460C93A-8B8D-41D1-9B5D-6EDC3562D04E}" type="pres">
      <dgm:prSet presAssocID="{42B03147-4C01-4774-8A0A-E8D464FC1B9E}" presName="parentText" presStyleLbl="node1" presStyleIdx="0" presStyleCnt="7">
        <dgm:presLayoutVars>
          <dgm:chMax val="0"/>
          <dgm:bulletEnabled val="1"/>
        </dgm:presLayoutVars>
      </dgm:prSet>
      <dgm:spPr/>
    </dgm:pt>
    <dgm:pt modelId="{45B306FE-551B-4104-B55E-F482FDCBD54F}" type="pres">
      <dgm:prSet presAssocID="{C8431B8D-EFB7-4B70-80AD-B626BB7E7F9A}" presName="spacer" presStyleCnt="0"/>
      <dgm:spPr/>
    </dgm:pt>
    <dgm:pt modelId="{A1CFF9DC-E37B-4060-9FBF-76B0D663948D}" type="pres">
      <dgm:prSet presAssocID="{5B7C6237-7B99-4ECB-8B9E-BC51DBB0FC88}" presName="parentText" presStyleLbl="node1" presStyleIdx="1" presStyleCnt="7">
        <dgm:presLayoutVars>
          <dgm:chMax val="0"/>
          <dgm:bulletEnabled val="1"/>
        </dgm:presLayoutVars>
      </dgm:prSet>
      <dgm:spPr/>
    </dgm:pt>
    <dgm:pt modelId="{3192DFE5-BBD4-40F0-873B-5F647613C070}" type="pres">
      <dgm:prSet presAssocID="{264CAE3E-2E82-4217-9606-F6AC30685085}" presName="spacer" presStyleCnt="0"/>
      <dgm:spPr/>
    </dgm:pt>
    <dgm:pt modelId="{E97AE7CC-DBDD-4E8D-A828-A1429EDA0769}" type="pres">
      <dgm:prSet presAssocID="{CCD15981-D216-439B-A8D2-21D87DD1FD7C}" presName="parentText" presStyleLbl="node1" presStyleIdx="2" presStyleCnt="7">
        <dgm:presLayoutVars>
          <dgm:chMax val="0"/>
          <dgm:bulletEnabled val="1"/>
        </dgm:presLayoutVars>
      </dgm:prSet>
      <dgm:spPr/>
    </dgm:pt>
    <dgm:pt modelId="{D9A702D8-088C-4966-BE66-D9445FBFB148}" type="pres">
      <dgm:prSet presAssocID="{F466BE12-FB43-41DC-9381-5BED57483971}" presName="spacer" presStyleCnt="0"/>
      <dgm:spPr/>
    </dgm:pt>
    <dgm:pt modelId="{92D23FDC-94DC-401D-BD5F-23BB72C026E6}" type="pres">
      <dgm:prSet presAssocID="{6CEFD04B-5853-4B9C-8278-DD6FA77B3FBB}" presName="parentText" presStyleLbl="node1" presStyleIdx="3" presStyleCnt="7">
        <dgm:presLayoutVars>
          <dgm:chMax val="0"/>
          <dgm:bulletEnabled val="1"/>
        </dgm:presLayoutVars>
      </dgm:prSet>
      <dgm:spPr/>
    </dgm:pt>
    <dgm:pt modelId="{335D541D-B164-4D3F-B190-BBD5750C5717}" type="pres">
      <dgm:prSet presAssocID="{DF32B580-AD06-47AF-9388-D602AA94545E}" presName="spacer" presStyleCnt="0"/>
      <dgm:spPr/>
    </dgm:pt>
    <dgm:pt modelId="{D14ECAEB-4328-43B6-9D42-36E4F82675CE}" type="pres">
      <dgm:prSet presAssocID="{457D069C-47A5-411E-8C74-07E644A86513}" presName="parentText" presStyleLbl="node1" presStyleIdx="4" presStyleCnt="7">
        <dgm:presLayoutVars>
          <dgm:chMax val="0"/>
          <dgm:bulletEnabled val="1"/>
        </dgm:presLayoutVars>
      </dgm:prSet>
      <dgm:spPr/>
    </dgm:pt>
    <dgm:pt modelId="{62107A1B-3980-46F2-BBD1-956E594ABE80}" type="pres">
      <dgm:prSet presAssocID="{50BE3FF8-D041-4C34-8635-9B9DE0D1D7BD}" presName="spacer" presStyleCnt="0"/>
      <dgm:spPr/>
    </dgm:pt>
    <dgm:pt modelId="{781E8CFE-FF98-448C-930E-3B3E4C058936}" type="pres">
      <dgm:prSet presAssocID="{CCBECED5-E8ED-4AA3-A7FB-64DA99609CAD}" presName="parentText" presStyleLbl="node1" presStyleIdx="5" presStyleCnt="7">
        <dgm:presLayoutVars>
          <dgm:chMax val="0"/>
          <dgm:bulletEnabled val="1"/>
        </dgm:presLayoutVars>
      </dgm:prSet>
      <dgm:spPr/>
    </dgm:pt>
    <dgm:pt modelId="{E2F39149-3AEA-42D0-A8FD-1257E634962D}" type="pres">
      <dgm:prSet presAssocID="{190C953D-DE56-4B8F-9E67-08A28FB4D54C}" presName="spacer" presStyleCnt="0"/>
      <dgm:spPr/>
    </dgm:pt>
    <dgm:pt modelId="{FA313F19-7A24-47F7-A89B-AFA0D59870C0}" type="pres">
      <dgm:prSet presAssocID="{9C747673-1D7B-41E2-BFD3-1C1DED7C858F}" presName="parentText" presStyleLbl="node1" presStyleIdx="6" presStyleCnt="7">
        <dgm:presLayoutVars>
          <dgm:chMax val="0"/>
          <dgm:bulletEnabled val="1"/>
        </dgm:presLayoutVars>
      </dgm:prSet>
      <dgm:spPr/>
    </dgm:pt>
  </dgm:ptLst>
  <dgm:cxnLst>
    <dgm:cxn modelId="{37F5DE15-0659-4CD0-B144-FC81CC3A2877}" srcId="{42DC1E2D-81BB-40FB-AEE0-A2D7093120EB}" destId="{CCBECED5-E8ED-4AA3-A7FB-64DA99609CAD}" srcOrd="5" destOrd="0" parTransId="{E4DB8C0E-7E74-412B-A31E-8E3A9DA198A0}" sibTransId="{190C953D-DE56-4B8F-9E67-08A28FB4D54C}"/>
    <dgm:cxn modelId="{88D7823D-6E6D-473B-A3BE-A772F97B8BBD}" type="presOf" srcId="{42DC1E2D-81BB-40FB-AEE0-A2D7093120EB}" destId="{C544E5FF-FBBD-4274-9AEA-F38A621CEB9B}" srcOrd="0" destOrd="0" presId="urn:microsoft.com/office/officeart/2005/8/layout/vList2"/>
    <dgm:cxn modelId="{22D2095B-4635-47E7-AB2D-506A9483309E}" srcId="{42DC1E2D-81BB-40FB-AEE0-A2D7093120EB}" destId="{9C747673-1D7B-41E2-BFD3-1C1DED7C858F}" srcOrd="6" destOrd="0" parTransId="{0716CCDD-B68E-4614-A034-B5ABAE26B1CE}" sibTransId="{9DA01CA9-18FD-40AE-8700-DA2BB708D78F}"/>
    <dgm:cxn modelId="{53DDE941-619C-4119-8770-100764CA8080}" type="presOf" srcId="{CCBECED5-E8ED-4AA3-A7FB-64DA99609CAD}" destId="{781E8CFE-FF98-448C-930E-3B3E4C058936}" srcOrd="0" destOrd="0" presId="urn:microsoft.com/office/officeart/2005/8/layout/vList2"/>
    <dgm:cxn modelId="{D1260A63-342C-4830-9794-ADDB1D2D7838}" srcId="{42DC1E2D-81BB-40FB-AEE0-A2D7093120EB}" destId="{CCD15981-D216-439B-A8D2-21D87DD1FD7C}" srcOrd="2" destOrd="0" parTransId="{969E2578-F72E-433D-9203-5272082A2B09}" sibTransId="{F466BE12-FB43-41DC-9381-5BED57483971}"/>
    <dgm:cxn modelId="{17E3D163-F301-4BCC-B0FD-90539C7F7CE9}" type="presOf" srcId="{42B03147-4C01-4774-8A0A-E8D464FC1B9E}" destId="{C460C93A-8B8D-41D1-9B5D-6EDC3562D04E}" srcOrd="0" destOrd="0" presId="urn:microsoft.com/office/officeart/2005/8/layout/vList2"/>
    <dgm:cxn modelId="{A16E0769-A14F-4461-B094-8C45B594955D}" srcId="{42DC1E2D-81BB-40FB-AEE0-A2D7093120EB}" destId="{457D069C-47A5-411E-8C74-07E644A86513}" srcOrd="4" destOrd="0" parTransId="{4E78448B-7FAD-44AC-A5DE-BF8F58138214}" sibTransId="{50BE3FF8-D041-4C34-8635-9B9DE0D1D7BD}"/>
    <dgm:cxn modelId="{3AB9486B-09D0-4A08-9A4A-472E34CE2775}" type="presOf" srcId="{CCD15981-D216-439B-A8D2-21D87DD1FD7C}" destId="{E97AE7CC-DBDD-4E8D-A828-A1429EDA0769}" srcOrd="0" destOrd="0" presId="urn:microsoft.com/office/officeart/2005/8/layout/vList2"/>
    <dgm:cxn modelId="{3D587F6F-9E90-4AF5-9B82-04A1C00C1C70}" srcId="{42DC1E2D-81BB-40FB-AEE0-A2D7093120EB}" destId="{5B7C6237-7B99-4ECB-8B9E-BC51DBB0FC88}" srcOrd="1" destOrd="0" parTransId="{FBB4B11D-BDD7-469B-835F-44BE8AC13FC9}" sibTransId="{264CAE3E-2E82-4217-9606-F6AC30685085}"/>
    <dgm:cxn modelId="{B2F7E651-9136-4A63-B77D-44840936D8DB}" type="presOf" srcId="{457D069C-47A5-411E-8C74-07E644A86513}" destId="{D14ECAEB-4328-43B6-9D42-36E4F82675CE}" srcOrd="0" destOrd="0" presId="urn:microsoft.com/office/officeart/2005/8/layout/vList2"/>
    <dgm:cxn modelId="{6FD40D89-AB0B-4252-B8FC-7CDDCA8C6810}" srcId="{42DC1E2D-81BB-40FB-AEE0-A2D7093120EB}" destId="{6CEFD04B-5853-4B9C-8278-DD6FA77B3FBB}" srcOrd="3" destOrd="0" parTransId="{3AF2219E-0CFA-4274-B056-7FBFC244EB1B}" sibTransId="{DF32B580-AD06-47AF-9388-D602AA94545E}"/>
    <dgm:cxn modelId="{35622192-10AC-4B91-955F-FFCD4EA7464C}" srcId="{42DC1E2D-81BB-40FB-AEE0-A2D7093120EB}" destId="{42B03147-4C01-4774-8A0A-E8D464FC1B9E}" srcOrd="0" destOrd="0" parTransId="{1DD00BBB-2FAB-4281-8369-F6F0C7B70C8D}" sibTransId="{C8431B8D-EFB7-4B70-80AD-B626BB7E7F9A}"/>
    <dgm:cxn modelId="{A73DFDA4-88E7-4016-AE19-AA226BF8C567}" type="presOf" srcId="{9C747673-1D7B-41E2-BFD3-1C1DED7C858F}" destId="{FA313F19-7A24-47F7-A89B-AFA0D59870C0}" srcOrd="0" destOrd="0" presId="urn:microsoft.com/office/officeart/2005/8/layout/vList2"/>
    <dgm:cxn modelId="{9A55BBAC-B301-44B7-832A-F6332F3D355A}" type="presOf" srcId="{5B7C6237-7B99-4ECB-8B9E-BC51DBB0FC88}" destId="{A1CFF9DC-E37B-4060-9FBF-76B0D663948D}" srcOrd="0" destOrd="0" presId="urn:microsoft.com/office/officeart/2005/8/layout/vList2"/>
    <dgm:cxn modelId="{ED0ED8BD-A709-4634-B87C-8ADF1AE2B3C2}" type="presOf" srcId="{6CEFD04B-5853-4B9C-8278-DD6FA77B3FBB}" destId="{92D23FDC-94DC-401D-BD5F-23BB72C026E6}" srcOrd="0" destOrd="0" presId="urn:microsoft.com/office/officeart/2005/8/layout/vList2"/>
    <dgm:cxn modelId="{D1FBE32B-4621-4109-93F1-DC754266E381}" type="presParOf" srcId="{C544E5FF-FBBD-4274-9AEA-F38A621CEB9B}" destId="{C460C93A-8B8D-41D1-9B5D-6EDC3562D04E}" srcOrd="0" destOrd="0" presId="urn:microsoft.com/office/officeart/2005/8/layout/vList2"/>
    <dgm:cxn modelId="{E41350A2-6923-463E-82A9-9FD5DF8DFD8F}" type="presParOf" srcId="{C544E5FF-FBBD-4274-9AEA-F38A621CEB9B}" destId="{45B306FE-551B-4104-B55E-F482FDCBD54F}" srcOrd="1" destOrd="0" presId="urn:microsoft.com/office/officeart/2005/8/layout/vList2"/>
    <dgm:cxn modelId="{18481D04-4375-47E8-A76A-5CD5B9A56CD7}" type="presParOf" srcId="{C544E5FF-FBBD-4274-9AEA-F38A621CEB9B}" destId="{A1CFF9DC-E37B-4060-9FBF-76B0D663948D}" srcOrd="2" destOrd="0" presId="urn:microsoft.com/office/officeart/2005/8/layout/vList2"/>
    <dgm:cxn modelId="{CE82F8A5-776A-4868-B8B3-F163B9116649}" type="presParOf" srcId="{C544E5FF-FBBD-4274-9AEA-F38A621CEB9B}" destId="{3192DFE5-BBD4-40F0-873B-5F647613C070}" srcOrd="3" destOrd="0" presId="urn:microsoft.com/office/officeart/2005/8/layout/vList2"/>
    <dgm:cxn modelId="{563ABBE7-B7D8-470A-92F9-AA63610B5A00}" type="presParOf" srcId="{C544E5FF-FBBD-4274-9AEA-F38A621CEB9B}" destId="{E97AE7CC-DBDD-4E8D-A828-A1429EDA0769}" srcOrd="4" destOrd="0" presId="urn:microsoft.com/office/officeart/2005/8/layout/vList2"/>
    <dgm:cxn modelId="{A7BC1E30-ABED-4D83-B224-23CA98A9ADEF}" type="presParOf" srcId="{C544E5FF-FBBD-4274-9AEA-F38A621CEB9B}" destId="{D9A702D8-088C-4966-BE66-D9445FBFB148}" srcOrd="5" destOrd="0" presId="urn:microsoft.com/office/officeart/2005/8/layout/vList2"/>
    <dgm:cxn modelId="{588D9BD6-7096-4DEF-BACA-4401347F57F5}" type="presParOf" srcId="{C544E5FF-FBBD-4274-9AEA-F38A621CEB9B}" destId="{92D23FDC-94DC-401D-BD5F-23BB72C026E6}" srcOrd="6" destOrd="0" presId="urn:microsoft.com/office/officeart/2005/8/layout/vList2"/>
    <dgm:cxn modelId="{1A291D54-1DC4-4293-91DC-C1AB9F174D18}" type="presParOf" srcId="{C544E5FF-FBBD-4274-9AEA-F38A621CEB9B}" destId="{335D541D-B164-4D3F-B190-BBD5750C5717}" srcOrd="7" destOrd="0" presId="urn:microsoft.com/office/officeart/2005/8/layout/vList2"/>
    <dgm:cxn modelId="{D1AC710F-AB26-4C39-BA77-1E612DA11259}" type="presParOf" srcId="{C544E5FF-FBBD-4274-9AEA-F38A621CEB9B}" destId="{D14ECAEB-4328-43B6-9D42-36E4F82675CE}" srcOrd="8" destOrd="0" presId="urn:microsoft.com/office/officeart/2005/8/layout/vList2"/>
    <dgm:cxn modelId="{6B4E84E5-CA7A-40B7-823A-94F72995CE0D}" type="presParOf" srcId="{C544E5FF-FBBD-4274-9AEA-F38A621CEB9B}" destId="{62107A1B-3980-46F2-BBD1-956E594ABE80}" srcOrd="9" destOrd="0" presId="urn:microsoft.com/office/officeart/2005/8/layout/vList2"/>
    <dgm:cxn modelId="{D35359D9-1559-4C82-B664-4AED8C18440A}" type="presParOf" srcId="{C544E5FF-FBBD-4274-9AEA-F38A621CEB9B}" destId="{781E8CFE-FF98-448C-930E-3B3E4C058936}" srcOrd="10" destOrd="0" presId="urn:microsoft.com/office/officeart/2005/8/layout/vList2"/>
    <dgm:cxn modelId="{0BF0C234-B59A-4A66-900E-79300AD4BAA7}" type="presParOf" srcId="{C544E5FF-FBBD-4274-9AEA-F38A621CEB9B}" destId="{E2F39149-3AEA-42D0-A8FD-1257E634962D}" srcOrd="11" destOrd="0" presId="urn:microsoft.com/office/officeart/2005/8/layout/vList2"/>
    <dgm:cxn modelId="{C4679E38-9286-4288-828D-FEBB23B920C6}" type="presParOf" srcId="{C544E5FF-FBBD-4274-9AEA-F38A621CEB9B}" destId="{FA313F19-7A24-47F7-A89B-AFA0D59870C0}" srcOrd="1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9BF279-9B37-49DE-BE8A-A9D7BA382A67}">
      <dsp:nvSpPr>
        <dsp:cNvPr id="0" name=""/>
        <dsp:cNvSpPr/>
      </dsp:nvSpPr>
      <dsp:spPr>
        <a:xfrm>
          <a:off x="0" y="131518"/>
          <a:ext cx="6478587" cy="135252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Does Education or Experience play a greater role in decision to leave? </a:t>
          </a:r>
        </a:p>
      </dsp:txBody>
      <dsp:txXfrm>
        <a:off x="66025" y="197543"/>
        <a:ext cx="6346537" cy="1220470"/>
      </dsp:txXfrm>
    </dsp:sp>
    <dsp:sp modelId="{BD964404-01C4-4F53-9BE4-F6C4F88799E0}">
      <dsp:nvSpPr>
        <dsp:cNvPr id="0" name=""/>
        <dsp:cNvSpPr/>
      </dsp:nvSpPr>
      <dsp:spPr>
        <a:xfrm>
          <a:off x="0" y="1581959"/>
          <a:ext cx="6478587" cy="1352520"/>
        </a:xfrm>
        <a:prstGeom prst="round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Does Length of time at current job impact this decision? </a:t>
          </a:r>
        </a:p>
      </dsp:txBody>
      <dsp:txXfrm>
        <a:off x="66025" y="1647984"/>
        <a:ext cx="6346537" cy="1220470"/>
      </dsp:txXfrm>
    </dsp:sp>
    <dsp:sp modelId="{6D58A0EF-0B0F-46EE-A691-055130E8DAA5}">
      <dsp:nvSpPr>
        <dsp:cNvPr id="0" name=""/>
        <dsp:cNvSpPr/>
      </dsp:nvSpPr>
      <dsp:spPr>
        <a:xfrm>
          <a:off x="0" y="3032398"/>
          <a:ext cx="6478587" cy="1352520"/>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Is current company size or company type a factor? </a:t>
          </a:r>
        </a:p>
      </dsp:txBody>
      <dsp:txXfrm>
        <a:off x="66025" y="3098423"/>
        <a:ext cx="6346537" cy="12204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E6D66C-D2F2-46BC-B04E-E6CA4246C3A9}">
      <dsp:nvSpPr>
        <dsp:cNvPr id="0" name=""/>
        <dsp:cNvSpPr/>
      </dsp:nvSpPr>
      <dsp:spPr>
        <a:xfrm>
          <a:off x="469835" y="0"/>
          <a:ext cx="4389875" cy="4389875"/>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Initially this dataset started with 13 variables, primarily categorical. The variables I intend to use are:</a:t>
          </a:r>
        </a:p>
        <a:p>
          <a:pPr marL="171450" lvl="1" indent="-171450" algn="l" defTabSz="711200">
            <a:lnSpc>
              <a:spcPct val="90000"/>
            </a:lnSpc>
            <a:spcBef>
              <a:spcPct val="0"/>
            </a:spcBef>
            <a:spcAft>
              <a:spcPct val="15000"/>
            </a:spcAft>
            <a:buChar char="•"/>
          </a:pPr>
          <a:r>
            <a:rPr lang="en-US" sz="1600" kern="1200" dirty="0" err="1"/>
            <a:t>relevent_experience</a:t>
          </a:r>
          <a:endParaRPr lang="en-US" sz="1600" kern="1200" dirty="0"/>
        </a:p>
        <a:p>
          <a:pPr marL="171450" lvl="1" indent="-171450" algn="l" defTabSz="711200">
            <a:lnSpc>
              <a:spcPct val="90000"/>
            </a:lnSpc>
            <a:spcBef>
              <a:spcPct val="0"/>
            </a:spcBef>
            <a:spcAft>
              <a:spcPct val="15000"/>
            </a:spcAft>
            <a:buChar char="•"/>
          </a:pPr>
          <a:r>
            <a:rPr lang="en-US" sz="1600" kern="1200"/>
            <a:t>education_level</a:t>
          </a:r>
        </a:p>
        <a:p>
          <a:pPr marL="171450" lvl="1" indent="-171450" algn="l" defTabSz="711200">
            <a:lnSpc>
              <a:spcPct val="90000"/>
            </a:lnSpc>
            <a:spcBef>
              <a:spcPct val="0"/>
            </a:spcBef>
            <a:spcAft>
              <a:spcPct val="15000"/>
            </a:spcAft>
            <a:buChar char="•"/>
          </a:pPr>
          <a:r>
            <a:rPr lang="en-US" sz="1600" kern="1200"/>
            <a:t>major_discipline</a:t>
          </a:r>
        </a:p>
        <a:p>
          <a:pPr marL="171450" lvl="1" indent="-171450" algn="l" defTabSz="711200">
            <a:lnSpc>
              <a:spcPct val="90000"/>
            </a:lnSpc>
            <a:spcBef>
              <a:spcPct val="0"/>
            </a:spcBef>
            <a:spcAft>
              <a:spcPct val="15000"/>
            </a:spcAft>
            <a:buChar char="•"/>
          </a:pPr>
          <a:r>
            <a:rPr lang="en-US" sz="1600" kern="1200"/>
            <a:t>experience</a:t>
          </a:r>
        </a:p>
        <a:p>
          <a:pPr marL="171450" lvl="1" indent="-171450" algn="l" defTabSz="711200">
            <a:lnSpc>
              <a:spcPct val="90000"/>
            </a:lnSpc>
            <a:spcBef>
              <a:spcPct val="0"/>
            </a:spcBef>
            <a:spcAft>
              <a:spcPct val="15000"/>
            </a:spcAft>
            <a:buChar char="•"/>
          </a:pPr>
          <a:r>
            <a:rPr lang="en-US" sz="1600" kern="1200" dirty="0" err="1"/>
            <a:t>company_size</a:t>
          </a:r>
          <a:endParaRPr lang="en-US" sz="1600" kern="1200" dirty="0"/>
        </a:p>
        <a:p>
          <a:pPr marL="171450" lvl="1" indent="-171450" algn="l" defTabSz="711200">
            <a:lnSpc>
              <a:spcPct val="90000"/>
            </a:lnSpc>
            <a:spcBef>
              <a:spcPct val="0"/>
            </a:spcBef>
            <a:spcAft>
              <a:spcPct val="15000"/>
            </a:spcAft>
            <a:buChar char="•"/>
          </a:pPr>
          <a:r>
            <a:rPr lang="en-US" sz="1600" kern="1200"/>
            <a:t>company_type</a:t>
          </a:r>
        </a:p>
        <a:p>
          <a:pPr marL="171450" lvl="1" indent="-171450" algn="l" defTabSz="711200">
            <a:lnSpc>
              <a:spcPct val="90000"/>
            </a:lnSpc>
            <a:spcBef>
              <a:spcPct val="0"/>
            </a:spcBef>
            <a:spcAft>
              <a:spcPct val="15000"/>
            </a:spcAft>
            <a:buChar char="•"/>
          </a:pPr>
          <a:r>
            <a:rPr lang="en-US" sz="1600" kern="1200" dirty="0" err="1"/>
            <a:t>last_new_job</a:t>
          </a:r>
          <a:endParaRPr lang="en-US" sz="1600" kern="1200" dirty="0"/>
        </a:p>
      </dsp:txBody>
      <dsp:txXfrm>
        <a:off x="1112717" y="642882"/>
        <a:ext cx="3104111" cy="310411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60C93A-8B8D-41D1-9B5D-6EDC3562D04E}">
      <dsp:nvSpPr>
        <dsp:cNvPr id="0" name=""/>
        <dsp:cNvSpPr/>
      </dsp:nvSpPr>
      <dsp:spPr>
        <a:xfrm>
          <a:off x="0" y="417109"/>
          <a:ext cx="10515600" cy="455715"/>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relevent_experience – This was a binary variable ‘Has relevant experience’ and ‘No relevant experience’</a:t>
          </a:r>
        </a:p>
      </dsp:txBody>
      <dsp:txXfrm>
        <a:off x="22246" y="439355"/>
        <a:ext cx="10471108" cy="411223"/>
      </dsp:txXfrm>
    </dsp:sp>
    <dsp:sp modelId="{A1CFF9DC-E37B-4060-9FBF-76B0D663948D}">
      <dsp:nvSpPr>
        <dsp:cNvPr id="0" name=""/>
        <dsp:cNvSpPr/>
      </dsp:nvSpPr>
      <dsp:spPr>
        <a:xfrm>
          <a:off x="0" y="927544"/>
          <a:ext cx="10515600" cy="455715"/>
        </a:xfrm>
        <a:prstGeom prst="roundRect">
          <a:avLst/>
        </a:prstGeom>
        <a:solidFill>
          <a:schemeClr val="accent5">
            <a:hueOff val="-1126424"/>
            <a:satOff val="-2903"/>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Education_level – This variable had four options ‘High School’, ‘Graduate’, ‘Masters’ and ‘Phd’ </a:t>
          </a:r>
        </a:p>
      </dsp:txBody>
      <dsp:txXfrm>
        <a:off x="22246" y="949790"/>
        <a:ext cx="10471108" cy="411223"/>
      </dsp:txXfrm>
    </dsp:sp>
    <dsp:sp modelId="{E97AE7CC-DBDD-4E8D-A828-A1429EDA0769}">
      <dsp:nvSpPr>
        <dsp:cNvPr id="0" name=""/>
        <dsp:cNvSpPr/>
      </dsp:nvSpPr>
      <dsp:spPr>
        <a:xfrm>
          <a:off x="0" y="1437979"/>
          <a:ext cx="10515600" cy="455715"/>
        </a:xfrm>
        <a:prstGeom prst="roundRect">
          <a:avLst/>
        </a:prstGeom>
        <a:solidFill>
          <a:schemeClr val="accent5">
            <a:hueOff val="-2252848"/>
            <a:satOff val="-5806"/>
            <a:lumOff val="-392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Major_discipline – Included Arts, Business, Humanities, No Major, Other and STEM</a:t>
          </a:r>
        </a:p>
      </dsp:txBody>
      <dsp:txXfrm>
        <a:off x="22246" y="1460225"/>
        <a:ext cx="10471108" cy="411223"/>
      </dsp:txXfrm>
    </dsp:sp>
    <dsp:sp modelId="{92D23FDC-94DC-401D-BD5F-23BB72C026E6}">
      <dsp:nvSpPr>
        <dsp:cNvPr id="0" name=""/>
        <dsp:cNvSpPr/>
      </dsp:nvSpPr>
      <dsp:spPr>
        <a:xfrm>
          <a:off x="0" y="1948414"/>
          <a:ext cx="10515600" cy="455715"/>
        </a:xfrm>
        <a:prstGeom prst="roundRect">
          <a:avLst/>
        </a:prstGeom>
        <a:solidFill>
          <a:schemeClr val="accent5">
            <a:hueOff val="-3379271"/>
            <a:satOff val="-8710"/>
            <a:lumOff val="-588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Experience – experience in years ranging from less than 1 year to more than 20 years</a:t>
          </a:r>
        </a:p>
      </dsp:txBody>
      <dsp:txXfrm>
        <a:off x="22246" y="1970660"/>
        <a:ext cx="10471108" cy="411223"/>
      </dsp:txXfrm>
    </dsp:sp>
    <dsp:sp modelId="{D14ECAEB-4328-43B6-9D42-36E4F82675CE}">
      <dsp:nvSpPr>
        <dsp:cNvPr id="0" name=""/>
        <dsp:cNvSpPr/>
      </dsp:nvSpPr>
      <dsp:spPr>
        <a:xfrm>
          <a:off x="0" y="2458849"/>
          <a:ext cx="10515600" cy="455715"/>
        </a:xfrm>
        <a:prstGeom prst="roundRect">
          <a:avLst/>
        </a:prstGeom>
        <a:solidFill>
          <a:schemeClr val="accent5">
            <a:hueOff val="-4505695"/>
            <a:satOff val="-11613"/>
            <a:lumOff val="-784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Company_size – Divided into 8 groups of less than 10 to greater than 10000</a:t>
          </a:r>
        </a:p>
      </dsp:txBody>
      <dsp:txXfrm>
        <a:off x="22246" y="2481095"/>
        <a:ext cx="10471108" cy="411223"/>
      </dsp:txXfrm>
    </dsp:sp>
    <dsp:sp modelId="{781E8CFE-FF98-448C-930E-3B3E4C058936}">
      <dsp:nvSpPr>
        <dsp:cNvPr id="0" name=""/>
        <dsp:cNvSpPr/>
      </dsp:nvSpPr>
      <dsp:spPr>
        <a:xfrm>
          <a:off x="0" y="2969284"/>
          <a:ext cx="10515600" cy="455715"/>
        </a:xfrm>
        <a:prstGeom prst="roundRect">
          <a:avLst/>
        </a:prstGeom>
        <a:solidFill>
          <a:schemeClr val="accent5">
            <a:hueOff val="-5632119"/>
            <a:satOff val="-14516"/>
            <a:lumOff val="-9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Company_type – Divided into groups PVT ltd, startup, public sector, early stage startup, other</a:t>
          </a:r>
        </a:p>
      </dsp:txBody>
      <dsp:txXfrm>
        <a:off x="22246" y="2991530"/>
        <a:ext cx="10471108" cy="411223"/>
      </dsp:txXfrm>
    </dsp:sp>
    <dsp:sp modelId="{FA313F19-7A24-47F7-A89B-AFA0D59870C0}">
      <dsp:nvSpPr>
        <dsp:cNvPr id="0" name=""/>
        <dsp:cNvSpPr/>
      </dsp:nvSpPr>
      <dsp:spPr>
        <a:xfrm>
          <a:off x="0" y="3479719"/>
          <a:ext cx="10515600" cy="455715"/>
        </a:xfrm>
        <a:prstGeom prst="roundRect">
          <a:avLst/>
        </a:prstGeom>
        <a:solidFill>
          <a:schemeClr val="accent5">
            <a:hueOff val="-6758543"/>
            <a:satOff val="-17419"/>
            <a:lumOff val="-1176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Last_new_job – indicates last new job respondent started ranging from 1 year to 4+ years</a:t>
          </a:r>
        </a:p>
      </dsp:txBody>
      <dsp:txXfrm>
        <a:off x="22246" y="3501965"/>
        <a:ext cx="10471108" cy="411223"/>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2">
  <dgm:title val=""/>
  <dgm:desc val=""/>
  <dgm:catLst>
    <dgm:cat type="cycle" pri="1000"/>
    <dgm:cat type="convert" pri="10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onstrLst>
      <dgm:constr type="w" for="ch" ptType="node" refType="w"/>
      <dgm:constr type="w" for="ch" ptType="sibTrans" refType="w" refFor="ch" refPtType="node" op="equ" fact="0.25"/>
      <dgm:constr type="sibSp" refType="w" refFor="ch" refPtType="node" fact="0.5"/>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sibTransForEach" axis="followSib" ptType="sibTrans" hideLastTrans="0" cnt="1">
            <dgm:layoutNode name="sibTrans">
              <dgm:choose name="Name11">
                <dgm:if name="Name12" axis="par ch" ptType="doc node" func="cnt" op="lt" val="3">
                  <dgm:alg type="conn">
                    <dgm:param type="begPts" val="radial"/>
                    <dgm:param type="endPts" val="radial"/>
                  </dgm:alg>
                </dgm:if>
                <dgm:else name="Name13">
                  <dgm:alg type="conn">
                    <dgm:param type="begPts" val="auto"/>
                    <dgm:param type="endPts" val="auto"/>
                  </dgm:alg>
                </dgm:else>
              </dgm:choose>
              <dgm:shape xmlns:r="http://schemas.openxmlformats.org/officeDocument/2006/relationships" type="conn" r:blip="">
                <dgm:adjLst/>
              </dgm:shape>
              <dgm:presOf axis="self"/>
              <dgm:constrLst>
                <dgm:constr type="h" refType="w" fact="1.35"/>
                <dgm:constr type="connDist"/>
                <dgm:constr type="w" for="ch" refType="connDist" fact="0.45"/>
                <dgm:constr type="h" for="ch" refType="h"/>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14"/>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B6C33-AFFC-47F8-B726-AF4F07E949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F8F8EED-0FC9-434E-9695-C0F7ECF55C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C91DAD1-CE53-47DA-938C-FED8436DCDC6}"/>
              </a:ext>
            </a:extLst>
          </p:cNvPr>
          <p:cNvSpPr>
            <a:spLocks noGrp="1"/>
          </p:cNvSpPr>
          <p:nvPr>
            <p:ph type="dt" sz="half" idx="10"/>
          </p:nvPr>
        </p:nvSpPr>
        <p:spPr/>
        <p:txBody>
          <a:bodyPr/>
          <a:lstStyle/>
          <a:p>
            <a:fld id="{7865D38B-1333-4E75-85B3-2E2F10AE6C35}" type="datetimeFigureOut">
              <a:rPr lang="en-US" smtClean="0"/>
              <a:t>3/5/2021</a:t>
            </a:fld>
            <a:endParaRPr lang="en-US"/>
          </a:p>
        </p:txBody>
      </p:sp>
      <p:sp>
        <p:nvSpPr>
          <p:cNvPr id="5" name="Footer Placeholder 4">
            <a:extLst>
              <a:ext uri="{FF2B5EF4-FFF2-40B4-BE49-F238E27FC236}">
                <a16:creationId xmlns:a16="http://schemas.microsoft.com/office/drawing/2014/main" id="{6C6FCC2E-48F0-4380-8F3A-5682A86CD0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450CD6-2052-4A7D-9013-42BF478318FC}"/>
              </a:ext>
            </a:extLst>
          </p:cNvPr>
          <p:cNvSpPr>
            <a:spLocks noGrp="1"/>
          </p:cNvSpPr>
          <p:nvPr>
            <p:ph type="sldNum" sz="quarter" idx="12"/>
          </p:nvPr>
        </p:nvSpPr>
        <p:spPr/>
        <p:txBody>
          <a:bodyPr/>
          <a:lstStyle/>
          <a:p>
            <a:fld id="{9C96C561-C5B1-430D-8897-02B417DD126A}" type="slidenum">
              <a:rPr lang="en-US" smtClean="0"/>
              <a:t>‹#›</a:t>
            </a:fld>
            <a:endParaRPr lang="en-US"/>
          </a:p>
        </p:txBody>
      </p:sp>
    </p:spTree>
    <p:extLst>
      <p:ext uri="{BB962C8B-B14F-4D97-AF65-F5344CB8AC3E}">
        <p14:creationId xmlns:p14="http://schemas.microsoft.com/office/powerpoint/2010/main" val="1968991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B42983-45F3-4D81-B400-990BFD28BF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C8968F6-FECF-44D7-8D2D-2E8D1488142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52F9DD-327F-43C8-AC28-04C96D27E577}"/>
              </a:ext>
            </a:extLst>
          </p:cNvPr>
          <p:cNvSpPr>
            <a:spLocks noGrp="1"/>
          </p:cNvSpPr>
          <p:nvPr>
            <p:ph type="dt" sz="half" idx="10"/>
          </p:nvPr>
        </p:nvSpPr>
        <p:spPr/>
        <p:txBody>
          <a:bodyPr/>
          <a:lstStyle/>
          <a:p>
            <a:fld id="{7865D38B-1333-4E75-85B3-2E2F10AE6C35}" type="datetimeFigureOut">
              <a:rPr lang="en-US" smtClean="0"/>
              <a:t>3/5/2021</a:t>
            </a:fld>
            <a:endParaRPr lang="en-US"/>
          </a:p>
        </p:txBody>
      </p:sp>
      <p:sp>
        <p:nvSpPr>
          <p:cNvPr id="5" name="Footer Placeholder 4">
            <a:extLst>
              <a:ext uri="{FF2B5EF4-FFF2-40B4-BE49-F238E27FC236}">
                <a16:creationId xmlns:a16="http://schemas.microsoft.com/office/drawing/2014/main" id="{D6FC29F4-C183-4E4A-A20A-0AD3EB5B27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BEA420F-DDA9-4A7F-9505-4B6E3D36D1B3}"/>
              </a:ext>
            </a:extLst>
          </p:cNvPr>
          <p:cNvSpPr>
            <a:spLocks noGrp="1"/>
          </p:cNvSpPr>
          <p:nvPr>
            <p:ph type="sldNum" sz="quarter" idx="12"/>
          </p:nvPr>
        </p:nvSpPr>
        <p:spPr/>
        <p:txBody>
          <a:bodyPr/>
          <a:lstStyle/>
          <a:p>
            <a:fld id="{9C96C561-C5B1-430D-8897-02B417DD126A}" type="slidenum">
              <a:rPr lang="en-US" smtClean="0"/>
              <a:t>‹#›</a:t>
            </a:fld>
            <a:endParaRPr lang="en-US"/>
          </a:p>
        </p:txBody>
      </p:sp>
    </p:spTree>
    <p:extLst>
      <p:ext uri="{BB962C8B-B14F-4D97-AF65-F5344CB8AC3E}">
        <p14:creationId xmlns:p14="http://schemas.microsoft.com/office/powerpoint/2010/main" val="4079485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C99F74-7F9F-4777-9F56-B17DB3B221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054F618-9A0E-497F-BDE7-8077D4AF90B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E9F68B-FB30-4FA8-AA2F-A03FB8C8F289}"/>
              </a:ext>
            </a:extLst>
          </p:cNvPr>
          <p:cNvSpPr>
            <a:spLocks noGrp="1"/>
          </p:cNvSpPr>
          <p:nvPr>
            <p:ph type="dt" sz="half" idx="10"/>
          </p:nvPr>
        </p:nvSpPr>
        <p:spPr/>
        <p:txBody>
          <a:bodyPr/>
          <a:lstStyle/>
          <a:p>
            <a:fld id="{7865D38B-1333-4E75-85B3-2E2F10AE6C35}" type="datetimeFigureOut">
              <a:rPr lang="en-US" smtClean="0"/>
              <a:t>3/5/2021</a:t>
            </a:fld>
            <a:endParaRPr lang="en-US"/>
          </a:p>
        </p:txBody>
      </p:sp>
      <p:sp>
        <p:nvSpPr>
          <p:cNvPr id="5" name="Footer Placeholder 4">
            <a:extLst>
              <a:ext uri="{FF2B5EF4-FFF2-40B4-BE49-F238E27FC236}">
                <a16:creationId xmlns:a16="http://schemas.microsoft.com/office/drawing/2014/main" id="{F07721CB-A651-43AB-A6EA-E359ED5FD42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51399AD-F984-4C52-8CF2-9D42C2D99384}"/>
              </a:ext>
            </a:extLst>
          </p:cNvPr>
          <p:cNvSpPr>
            <a:spLocks noGrp="1"/>
          </p:cNvSpPr>
          <p:nvPr>
            <p:ph type="sldNum" sz="quarter" idx="12"/>
          </p:nvPr>
        </p:nvSpPr>
        <p:spPr/>
        <p:txBody>
          <a:bodyPr/>
          <a:lstStyle/>
          <a:p>
            <a:fld id="{9C96C561-C5B1-430D-8897-02B417DD126A}" type="slidenum">
              <a:rPr lang="en-US" smtClean="0"/>
              <a:t>‹#›</a:t>
            </a:fld>
            <a:endParaRPr lang="en-US"/>
          </a:p>
        </p:txBody>
      </p:sp>
    </p:spTree>
    <p:extLst>
      <p:ext uri="{BB962C8B-B14F-4D97-AF65-F5344CB8AC3E}">
        <p14:creationId xmlns:p14="http://schemas.microsoft.com/office/powerpoint/2010/main" val="865758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318A8C-1600-4FC8-9388-151D1E6F42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FDCF20-83BA-4237-B923-9D9760832C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672F24C-C78C-4235-8EA2-CA25C37601D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F272B20-12B2-41A3-926B-1156C46F5F67}"/>
              </a:ext>
            </a:extLst>
          </p:cNvPr>
          <p:cNvSpPr>
            <a:spLocks noGrp="1"/>
          </p:cNvSpPr>
          <p:nvPr>
            <p:ph type="dt" sz="half" idx="10"/>
          </p:nvPr>
        </p:nvSpPr>
        <p:spPr/>
        <p:txBody>
          <a:bodyPr/>
          <a:lstStyle/>
          <a:p>
            <a:fld id="{7865D38B-1333-4E75-85B3-2E2F10AE6C35}" type="datetimeFigureOut">
              <a:rPr lang="en-US" smtClean="0"/>
              <a:t>3/5/2021</a:t>
            </a:fld>
            <a:endParaRPr lang="en-US"/>
          </a:p>
        </p:txBody>
      </p:sp>
      <p:sp>
        <p:nvSpPr>
          <p:cNvPr id="6" name="Footer Placeholder 5">
            <a:extLst>
              <a:ext uri="{FF2B5EF4-FFF2-40B4-BE49-F238E27FC236}">
                <a16:creationId xmlns:a16="http://schemas.microsoft.com/office/drawing/2014/main" id="{98282F3E-DC7D-4C96-99B9-37B8DF1CED5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54AF281-4517-4201-A90F-1F097C644434}"/>
              </a:ext>
            </a:extLst>
          </p:cNvPr>
          <p:cNvSpPr>
            <a:spLocks noGrp="1"/>
          </p:cNvSpPr>
          <p:nvPr>
            <p:ph type="sldNum" sz="quarter" idx="12"/>
          </p:nvPr>
        </p:nvSpPr>
        <p:spPr/>
        <p:txBody>
          <a:bodyPr/>
          <a:lstStyle/>
          <a:p>
            <a:fld id="{9C96C561-C5B1-430D-8897-02B417DD126A}" type="slidenum">
              <a:rPr lang="en-US" smtClean="0"/>
              <a:t>‹#›</a:t>
            </a:fld>
            <a:endParaRPr lang="en-US"/>
          </a:p>
        </p:txBody>
      </p:sp>
    </p:spTree>
    <p:extLst>
      <p:ext uri="{BB962C8B-B14F-4D97-AF65-F5344CB8AC3E}">
        <p14:creationId xmlns:p14="http://schemas.microsoft.com/office/powerpoint/2010/main" val="25862337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840FF-7F53-4652-9E36-DDE6B7E3FDE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E4E0758-D124-4E9C-BBB4-7C1986E4AF3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525FA1C-4E3D-4771-861B-3F5C8F700D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1EC89DA-C33C-4AE6-86A8-C5A0495B24F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774877-F35B-4FFE-AD02-A69C182BFDA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2AAFFAA-3FEB-41CF-9E78-9EF28D4F1472}"/>
              </a:ext>
            </a:extLst>
          </p:cNvPr>
          <p:cNvSpPr>
            <a:spLocks noGrp="1"/>
          </p:cNvSpPr>
          <p:nvPr>
            <p:ph type="dt" sz="half" idx="10"/>
          </p:nvPr>
        </p:nvSpPr>
        <p:spPr/>
        <p:txBody>
          <a:bodyPr/>
          <a:lstStyle/>
          <a:p>
            <a:fld id="{7865D38B-1333-4E75-85B3-2E2F10AE6C35}" type="datetimeFigureOut">
              <a:rPr lang="en-US" smtClean="0"/>
              <a:t>3/5/2021</a:t>
            </a:fld>
            <a:endParaRPr lang="en-US"/>
          </a:p>
        </p:txBody>
      </p:sp>
      <p:sp>
        <p:nvSpPr>
          <p:cNvPr id="8" name="Footer Placeholder 7">
            <a:extLst>
              <a:ext uri="{FF2B5EF4-FFF2-40B4-BE49-F238E27FC236}">
                <a16:creationId xmlns:a16="http://schemas.microsoft.com/office/drawing/2014/main" id="{13257528-5DE8-4AE0-98AF-082A3E1DD21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CD0487E-275F-4B67-B4E2-2FDEFF6F916B}"/>
              </a:ext>
            </a:extLst>
          </p:cNvPr>
          <p:cNvSpPr>
            <a:spLocks noGrp="1"/>
          </p:cNvSpPr>
          <p:nvPr>
            <p:ph type="sldNum" sz="quarter" idx="12"/>
          </p:nvPr>
        </p:nvSpPr>
        <p:spPr/>
        <p:txBody>
          <a:bodyPr/>
          <a:lstStyle/>
          <a:p>
            <a:fld id="{9C96C561-C5B1-430D-8897-02B417DD126A}" type="slidenum">
              <a:rPr lang="en-US" smtClean="0"/>
              <a:t>‹#›</a:t>
            </a:fld>
            <a:endParaRPr lang="en-US"/>
          </a:p>
        </p:txBody>
      </p:sp>
    </p:spTree>
    <p:extLst>
      <p:ext uri="{BB962C8B-B14F-4D97-AF65-F5344CB8AC3E}">
        <p14:creationId xmlns:p14="http://schemas.microsoft.com/office/powerpoint/2010/main" val="862419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48134-05C1-471B-8882-42CDEC56CA1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FF9795F-F06A-49A4-88EF-013A0169A67C}"/>
              </a:ext>
            </a:extLst>
          </p:cNvPr>
          <p:cNvSpPr>
            <a:spLocks noGrp="1"/>
          </p:cNvSpPr>
          <p:nvPr>
            <p:ph type="dt" sz="half" idx="10"/>
          </p:nvPr>
        </p:nvSpPr>
        <p:spPr/>
        <p:txBody>
          <a:bodyPr/>
          <a:lstStyle/>
          <a:p>
            <a:fld id="{7865D38B-1333-4E75-85B3-2E2F10AE6C35}" type="datetimeFigureOut">
              <a:rPr lang="en-US" smtClean="0"/>
              <a:t>3/5/2021</a:t>
            </a:fld>
            <a:endParaRPr lang="en-US"/>
          </a:p>
        </p:txBody>
      </p:sp>
      <p:sp>
        <p:nvSpPr>
          <p:cNvPr id="4" name="Footer Placeholder 3">
            <a:extLst>
              <a:ext uri="{FF2B5EF4-FFF2-40B4-BE49-F238E27FC236}">
                <a16:creationId xmlns:a16="http://schemas.microsoft.com/office/drawing/2014/main" id="{AFC10E84-E601-484E-B275-3E1C024A2E7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3A6F62C-014B-4B53-85F6-4CA9B14E726C}"/>
              </a:ext>
            </a:extLst>
          </p:cNvPr>
          <p:cNvSpPr>
            <a:spLocks noGrp="1"/>
          </p:cNvSpPr>
          <p:nvPr>
            <p:ph type="sldNum" sz="quarter" idx="12"/>
          </p:nvPr>
        </p:nvSpPr>
        <p:spPr/>
        <p:txBody>
          <a:bodyPr/>
          <a:lstStyle/>
          <a:p>
            <a:fld id="{9C96C561-C5B1-430D-8897-02B417DD126A}" type="slidenum">
              <a:rPr lang="en-US" smtClean="0"/>
              <a:t>‹#›</a:t>
            </a:fld>
            <a:endParaRPr lang="en-US"/>
          </a:p>
        </p:txBody>
      </p:sp>
    </p:spTree>
    <p:extLst>
      <p:ext uri="{BB962C8B-B14F-4D97-AF65-F5344CB8AC3E}">
        <p14:creationId xmlns:p14="http://schemas.microsoft.com/office/powerpoint/2010/main" val="33999158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86CD0AF-A6EC-48F5-BD60-7AE3A1CC6857}"/>
              </a:ext>
            </a:extLst>
          </p:cNvPr>
          <p:cNvSpPr>
            <a:spLocks noGrp="1"/>
          </p:cNvSpPr>
          <p:nvPr>
            <p:ph type="dt" sz="half" idx="10"/>
          </p:nvPr>
        </p:nvSpPr>
        <p:spPr/>
        <p:txBody>
          <a:bodyPr/>
          <a:lstStyle/>
          <a:p>
            <a:fld id="{7865D38B-1333-4E75-85B3-2E2F10AE6C35}" type="datetimeFigureOut">
              <a:rPr lang="en-US" smtClean="0"/>
              <a:t>3/5/2021</a:t>
            </a:fld>
            <a:endParaRPr lang="en-US"/>
          </a:p>
        </p:txBody>
      </p:sp>
      <p:sp>
        <p:nvSpPr>
          <p:cNvPr id="3" name="Footer Placeholder 2">
            <a:extLst>
              <a:ext uri="{FF2B5EF4-FFF2-40B4-BE49-F238E27FC236}">
                <a16:creationId xmlns:a16="http://schemas.microsoft.com/office/drawing/2014/main" id="{C29C2E78-4028-4632-9F3C-174C434F3BB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D7ECA1F-B525-4E18-9E59-D74A54672866}"/>
              </a:ext>
            </a:extLst>
          </p:cNvPr>
          <p:cNvSpPr>
            <a:spLocks noGrp="1"/>
          </p:cNvSpPr>
          <p:nvPr>
            <p:ph type="sldNum" sz="quarter" idx="12"/>
          </p:nvPr>
        </p:nvSpPr>
        <p:spPr/>
        <p:txBody>
          <a:bodyPr/>
          <a:lstStyle/>
          <a:p>
            <a:fld id="{9C96C561-C5B1-430D-8897-02B417DD126A}" type="slidenum">
              <a:rPr lang="en-US" smtClean="0"/>
              <a:t>‹#›</a:t>
            </a:fld>
            <a:endParaRPr lang="en-US"/>
          </a:p>
        </p:txBody>
      </p:sp>
    </p:spTree>
    <p:extLst>
      <p:ext uri="{BB962C8B-B14F-4D97-AF65-F5344CB8AC3E}">
        <p14:creationId xmlns:p14="http://schemas.microsoft.com/office/powerpoint/2010/main" val="110823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3F8DA-F794-46BB-9AA6-21AB4610F5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847D15-9911-4458-9F21-106EF49668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F967ADC-618E-4CFF-94A5-D5A34984D4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E03EFD-C7AD-4ABE-989C-5CC33A226966}"/>
              </a:ext>
            </a:extLst>
          </p:cNvPr>
          <p:cNvSpPr>
            <a:spLocks noGrp="1"/>
          </p:cNvSpPr>
          <p:nvPr>
            <p:ph type="dt" sz="half" idx="10"/>
          </p:nvPr>
        </p:nvSpPr>
        <p:spPr/>
        <p:txBody>
          <a:bodyPr/>
          <a:lstStyle/>
          <a:p>
            <a:fld id="{7865D38B-1333-4E75-85B3-2E2F10AE6C35}" type="datetimeFigureOut">
              <a:rPr lang="en-US" smtClean="0"/>
              <a:t>3/5/2021</a:t>
            </a:fld>
            <a:endParaRPr lang="en-US"/>
          </a:p>
        </p:txBody>
      </p:sp>
      <p:sp>
        <p:nvSpPr>
          <p:cNvPr id="6" name="Footer Placeholder 5">
            <a:extLst>
              <a:ext uri="{FF2B5EF4-FFF2-40B4-BE49-F238E27FC236}">
                <a16:creationId xmlns:a16="http://schemas.microsoft.com/office/drawing/2014/main" id="{AB70EEAB-5D15-45E3-AF08-CEE1A28FFB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C0ED6F-4298-4B04-839D-DF5F08013123}"/>
              </a:ext>
            </a:extLst>
          </p:cNvPr>
          <p:cNvSpPr>
            <a:spLocks noGrp="1"/>
          </p:cNvSpPr>
          <p:nvPr>
            <p:ph type="sldNum" sz="quarter" idx="12"/>
          </p:nvPr>
        </p:nvSpPr>
        <p:spPr/>
        <p:txBody>
          <a:bodyPr/>
          <a:lstStyle/>
          <a:p>
            <a:fld id="{9C96C561-C5B1-430D-8897-02B417DD126A}" type="slidenum">
              <a:rPr lang="en-US" smtClean="0"/>
              <a:t>‹#›</a:t>
            </a:fld>
            <a:endParaRPr lang="en-US"/>
          </a:p>
        </p:txBody>
      </p:sp>
    </p:spTree>
    <p:extLst>
      <p:ext uri="{BB962C8B-B14F-4D97-AF65-F5344CB8AC3E}">
        <p14:creationId xmlns:p14="http://schemas.microsoft.com/office/powerpoint/2010/main" val="37443366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FC928-36F9-4EAE-9D84-BC7FA961A2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4B105DB-5EED-4F26-9D6A-96DF142C4C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A3D761-C8F3-4ADE-BD6B-3B9B7834C0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B715D7-23B9-4A30-AB8C-52BE7AB21212}"/>
              </a:ext>
            </a:extLst>
          </p:cNvPr>
          <p:cNvSpPr>
            <a:spLocks noGrp="1"/>
          </p:cNvSpPr>
          <p:nvPr>
            <p:ph type="dt" sz="half" idx="10"/>
          </p:nvPr>
        </p:nvSpPr>
        <p:spPr/>
        <p:txBody>
          <a:bodyPr/>
          <a:lstStyle/>
          <a:p>
            <a:fld id="{7865D38B-1333-4E75-85B3-2E2F10AE6C35}" type="datetimeFigureOut">
              <a:rPr lang="en-US" smtClean="0"/>
              <a:t>3/5/2021</a:t>
            </a:fld>
            <a:endParaRPr lang="en-US"/>
          </a:p>
        </p:txBody>
      </p:sp>
      <p:sp>
        <p:nvSpPr>
          <p:cNvPr id="6" name="Footer Placeholder 5">
            <a:extLst>
              <a:ext uri="{FF2B5EF4-FFF2-40B4-BE49-F238E27FC236}">
                <a16:creationId xmlns:a16="http://schemas.microsoft.com/office/drawing/2014/main" id="{28C93B78-43B9-4AA7-800A-455200D705F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27102D-5155-4D2B-B0B5-2E3706E54439}"/>
              </a:ext>
            </a:extLst>
          </p:cNvPr>
          <p:cNvSpPr>
            <a:spLocks noGrp="1"/>
          </p:cNvSpPr>
          <p:nvPr>
            <p:ph type="sldNum" sz="quarter" idx="12"/>
          </p:nvPr>
        </p:nvSpPr>
        <p:spPr/>
        <p:txBody>
          <a:bodyPr/>
          <a:lstStyle/>
          <a:p>
            <a:fld id="{9C96C561-C5B1-430D-8897-02B417DD126A}" type="slidenum">
              <a:rPr lang="en-US" smtClean="0"/>
              <a:t>‹#›</a:t>
            </a:fld>
            <a:endParaRPr lang="en-US"/>
          </a:p>
        </p:txBody>
      </p:sp>
    </p:spTree>
    <p:extLst>
      <p:ext uri="{BB962C8B-B14F-4D97-AF65-F5344CB8AC3E}">
        <p14:creationId xmlns:p14="http://schemas.microsoft.com/office/powerpoint/2010/main" val="3809849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DAE15-0E11-44E9-9F58-88E00F4B4B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429A40-B8DE-40CA-BE27-6984EF9E74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1BAAEE-A2B5-4E81-B9D0-F8611E4CD0B1}"/>
              </a:ext>
            </a:extLst>
          </p:cNvPr>
          <p:cNvSpPr>
            <a:spLocks noGrp="1"/>
          </p:cNvSpPr>
          <p:nvPr>
            <p:ph type="dt" sz="half" idx="10"/>
          </p:nvPr>
        </p:nvSpPr>
        <p:spPr/>
        <p:txBody>
          <a:bodyPr/>
          <a:lstStyle/>
          <a:p>
            <a:fld id="{7865D38B-1333-4E75-85B3-2E2F10AE6C35}" type="datetimeFigureOut">
              <a:rPr lang="en-US" smtClean="0"/>
              <a:t>3/5/2021</a:t>
            </a:fld>
            <a:endParaRPr lang="en-US"/>
          </a:p>
        </p:txBody>
      </p:sp>
      <p:sp>
        <p:nvSpPr>
          <p:cNvPr id="5" name="Footer Placeholder 4">
            <a:extLst>
              <a:ext uri="{FF2B5EF4-FFF2-40B4-BE49-F238E27FC236}">
                <a16:creationId xmlns:a16="http://schemas.microsoft.com/office/drawing/2014/main" id="{7AA7C5EC-DAD3-4A38-97C8-E43DB5D42C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16FE65-2C41-43E0-875A-69FA2087AAC3}"/>
              </a:ext>
            </a:extLst>
          </p:cNvPr>
          <p:cNvSpPr>
            <a:spLocks noGrp="1"/>
          </p:cNvSpPr>
          <p:nvPr>
            <p:ph type="sldNum" sz="quarter" idx="12"/>
          </p:nvPr>
        </p:nvSpPr>
        <p:spPr/>
        <p:txBody>
          <a:bodyPr/>
          <a:lstStyle/>
          <a:p>
            <a:fld id="{9C96C561-C5B1-430D-8897-02B417DD126A}" type="slidenum">
              <a:rPr lang="en-US" smtClean="0"/>
              <a:t>‹#›</a:t>
            </a:fld>
            <a:endParaRPr lang="en-US"/>
          </a:p>
        </p:txBody>
      </p:sp>
    </p:spTree>
    <p:extLst>
      <p:ext uri="{BB962C8B-B14F-4D97-AF65-F5344CB8AC3E}">
        <p14:creationId xmlns:p14="http://schemas.microsoft.com/office/powerpoint/2010/main" val="6347547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5B92A1B-34E1-49FE-8B44-C504F7077B3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1BECEF1-FB2A-49E3-A583-5B767D27AC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6C01496-EE0C-4284-BCEC-02A694EDADEA}"/>
              </a:ext>
            </a:extLst>
          </p:cNvPr>
          <p:cNvSpPr>
            <a:spLocks noGrp="1"/>
          </p:cNvSpPr>
          <p:nvPr>
            <p:ph type="dt" sz="half" idx="10"/>
          </p:nvPr>
        </p:nvSpPr>
        <p:spPr/>
        <p:txBody>
          <a:bodyPr/>
          <a:lstStyle/>
          <a:p>
            <a:fld id="{7865D38B-1333-4E75-85B3-2E2F10AE6C35}" type="datetimeFigureOut">
              <a:rPr lang="en-US" smtClean="0"/>
              <a:t>3/5/2021</a:t>
            </a:fld>
            <a:endParaRPr lang="en-US"/>
          </a:p>
        </p:txBody>
      </p:sp>
      <p:sp>
        <p:nvSpPr>
          <p:cNvPr id="5" name="Footer Placeholder 4">
            <a:extLst>
              <a:ext uri="{FF2B5EF4-FFF2-40B4-BE49-F238E27FC236}">
                <a16:creationId xmlns:a16="http://schemas.microsoft.com/office/drawing/2014/main" id="{3D007B8E-0128-4DD8-8C6B-FA5D1F1490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CFDB1B-71FD-4668-BE54-C82DC5A5BECB}"/>
              </a:ext>
            </a:extLst>
          </p:cNvPr>
          <p:cNvSpPr>
            <a:spLocks noGrp="1"/>
          </p:cNvSpPr>
          <p:nvPr>
            <p:ph type="sldNum" sz="quarter" idx="12"/>
          </p:nvPr>
        </p:nvSpPr>
        <p:spPr/>
        <p:txBody>
          <a:bodyPr/>
          <a:lstStyle/>
          <a:p>
            <a:fld id="{9C96C561-C5B1-430D-8897-02B417DD126A}" type="slidenum">
              <a:rPr lang="en-US" smtClean="0"/>
              <a:t>‹#›</a:t>
            </a:fld>
            <a:endParaRPr lang="en-US"/>
          </a:p>
        </p:txBody>
      </p:sp>
    </p:spTree>
    <p:extLst>
      <p:ext uri="{BB962C8B-B14F-4D97-AF65-F5344CB8AC3E}">
        <p14:creationId xmlns:p14="http://schemas.microsoft.com/office/powerpoint/2010/main" val="13134562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39E7D6-6D92-440F-B59B-969AD0A148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A8F34D6-983A-44EE-BCAF-0F5C72CE68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D501EC-E484-42DD-AB28-53B92DABA2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65D38B-1333-4E75-85B3-2E2F10AE6C35}" type="datetimeFigureOut">
              <a:rPr lang="en-US" smtClean="0"/>
              <a:t>3/5/2021</a:t>
            </a:fld>
            <a:endParaRPr lang="en-US"/>
          </a:p>
        </p:txBody>
      </p:sp>
      <p:sp>
        <p:nvSpPr>
          <p:cNvPr id="5" name="Footer Placeholder 4">
            <a:extLst>
              <a:ext uri="{FF2B5EF4-FFF2-40B4-BE49-F238E27FC236}">
                <a16:creationId xmlns:a16="http://schemas.microsoft.com/office/drawing/2014/main" id="{E509025C-781B-4EC8-8AE1-A8F9D69044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B0CCE9A-9170-4AEE-9EA8-2945322C52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96C561-C5B1-430D-8897-02B417DD126A}" type="slidenum">
              <a:rPr lang="en-US" smtClean="0"/>
              <a:t>‹#›</a:t>
            </a:fld>
            <a:endParaRPr lang="en-US"/>
          </a:p>
        </p:txBody>
      </p:sp>
    </p:spTree>
    <p:extLst>
      <p:ext uri="{BB962C8B-B14F-4D97-AF65-F5344CB8AC3E}">
        <p14:creationId xmlns:p14="http://schemas.microsoft.com/office/powerpoint/2010/main" val="37425585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2" name="Freeform: Shape 21">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3" name="Subtitle 2">
            <a:extLst>
              <a:ext uri="{FF2B5EF4-FFF2-40B4-BE49-F238E27FC236}">
                <a16:creationId xmlns:a16="http://schemas.microsoft.com/office/drawing/2014/main" id="{82718278-98B6-4700-A4C8-F21F21A60039}"/>
              </a:ext>
            </a:extLst>
          </p:cNvPr>
          <p:cNvSpPr>
            <a:spLocks noGrp="1"/>
          </p:cNvSpPr>
          <p:nvPr>
            <p:ph type="subTitle" idx="1"/>
          </p:nvPr>
        </p:nvSpPr>
        <p:spPr>
          <a:xfrm>
            <a:off x="4439633" y="4518923"/>
            <a:ext cx="3312734" cy="1141851"/>
          </a:xfrm>
          <a:noFill/>
        </p:spPr>
        <p:txBody>
          <a:bodyPr>
            <a:normAutofit/>
          </a:bodyPr>
          <a:lstStyle/>
          <a:p>
            <a:r>
              <a:rPr lang="en-US" sz="2000" dirty="0">
                <a:solidFill>
                  <a:srgbClr val="080808"/>
                </a:solidFill>
              </a:rPr>
              <a:t>Nosky, Christopher</a:t>
            </a:r>
          </a:p>
          <a:p>
            <a:r>
              <a:rPr lang="en-US" sz="2000" dirty="0">
                <a:solidFill>
                  <a:srgbClr val="080808"/>
                </a:solidFill>
              </a:rPr>
              <a:t>DSC530</a:t>
            </a:r>
          </a:p>
        </p:txBody>
      </p:sp>
      <p:sp>
        <p:nvSpPr>
          <p:cNvPr id="2" name="Title 1">
            <a:extLst>
              <a:ext uri="{FF2B5EF4-FFF2-40B4-BE49-F238E27FC236}">
                <a16:creationId xmlns:a16="http://schemas.microsoft.com/office/drawing/2014/main" id="{4CDC3151-BD61-4484-83D7-FCFFBE41FE11}"/>
              </a:ext>
            </a:extLst>
          </p:cNvPr>
          <p:cNvSpPr>
            <a:spLocks noGrp="1"/>
          </p:cNvSpPr>
          <p:nvPr>
            <p:ph type="ctrTitle"/>
          </p:nvPr>
        </p:nvSpPr>
        <p:spPr>
          <a:xfrm>
            <a:off x="3204642" y="2353641"/>
            <a:ext cx="5782716" cy="2150719"/>
          </a:xfrm>
          <a:noFill/>
        </p:spPr>
        <p:txBody>
          <a:bodyPr anchor="ctr">
            <a:normAutofit/>
          </a:bodyPr>
          <a:lstStyle/>
          <a:p>
            <a:r>
              <a:rPr lang="en-US" sz="3600" i="1" dirty="0">
                <a:solidFill>
                  <a:srgbClr val="080808"/>
                </a:solidFill>
              </a:rPr>
              <a:t>HR Analytics: Job Change of Data Scientists</a:t>
            </a:r>
          </a:p>
        </p:txBody>
      </p:sp>
      <p:sp>
        <p:nvSpPr>
          <p:cNvPr id="26" name="Freeform: Shape 25">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Rectangle 27">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17399745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46D6306C-ED4F-4AAE-B4A5-EEA6AFAD7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B062BE1-9C5A-4EC7-BA04-F823DF6C77C9}"/>
              </a:ext>
            </a:extLst>
          </p:cNvPr>
          <p:cNvSpPr>
            <a:spLocks noGrp="1"/>
          </p:cNvSpPr>
          <p:nvPr>
            <p:ph type="title"/>
          </p:nvPr>
        </p:nvSpPr>
        <p:spPr>
          <a:xfrm>
            <a:off x="643467" y="1698171"/>
            <a:ext cx="3962061" cy="4516360"/>
          </a:xfrm>
        </p:spPr>
        <p:txBody>
          <a:bodyPr anchor="ctr">
            <a:normAutofit/>
          </a:bodyPr>
          <a:lstStyle/>
          <a:p>
            <a:r>
              <a:rPr lang="en-US" sz="3600" i="1" dirty="0"/>
              <a:t>Hypothesis</a:t>
            </a:r>
          </a:p>
        </p:txBody>
      </p:sp>
      <p:sp>
        <p:nvSpPr>
          <p:cNvPr id="24" name="Rectangle 23">
            <a:extLst>
              <a:ext uri="{FF2B5EF4-FFF2-40B4-BE49-F238E27FC236}">
                <a16:creationId xmlns:a16="http://schemas.microsoft.com/office/drawing/2014/main" id="{0EC5361D-F897-4856-B945-0455A365E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15435"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reeform: Shape 25">
            <a:extLst>
              <a:ext uri="{FF2B5EF4-FFF2-40B4-BE49-F238E27FC236}">
                <a16:creationId xmlns:a16="http://schemas.microsoft.com/office/drawing/2014/main" id="{4508C0C5-2268-42B5-B3C8-4D0899E05F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8" name="Freeform: Shape 27">
            <a:extLst>
              <a:ext uri="{FF2B5EF4-FFF2-40B4-BE49-F238E27FC236}">
                <a16:creationId xmlns:a16="http://schemas.microsoft.com/office/drawing/2014/main" id="{141ACBDB-38F8-4B34-8183-BD95B4E55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739327"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Rectangle 29">
            <a:extLst>
              <a:ext uri="{FF2B5EF4-FFF2-40B4-BE49-F238E27FC236}">
                <a16:creationId xmlns:a16="http://schemas.microsoft.com/office/drawing/2014/main" id="{DE00DB52-3455-4E2F-867B-A6D0516E17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653800"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Isosceles Triangle 31">
            <a:extLst>
              <a:ext uri="{FF2B5EF4-FFF2-40B4-BE49-F238E27FC236}">
                <a16:creationId xmlns:a16="http://schemas.microsoft.com/office/drawing/2014/main" id="{9E914C83-E0D8-4953-92D5-169D28CB43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5423"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Isosceles Triangle 33">
            <a:extLst>
              <a:ext uri="{FF2B5EF4-FFF2-40B4-BE49-F238E27FC236}">
                <a16:creationId xmlns:a16="http://schemas.microsoft.com/office/drawing/2014/main" id="{3512E083-F550-46AF-8490-767ECFD00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7297"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8" name="Content Placeholder 2">
            <a:extLst>
              <a:ext uri="{FF2B5EF4-FFF2-40B4-BE49-F238E27FC236}">
                <a16:creationId xmlns:a16="http://schemas.microsoft.com/office/drawing/2014/main" id="{BC9D8798-F8D6-4D27-8AF9-06254A5DB897}"/>
              </a:ext>
            </a:extLst>
          </p:cNvPr>
          <p:cNvGraphicFramePr>
            <a:graphicFrameLocks noGrp="1"/>
          </p:cNvGraphicFramePr>
          <p:nvPr>
            <p:ph idx="1"/>
            <p:extLst>
              <p:ext uri="{D42A27DB-BD31-4B8C-83A1-F6EECF244321}">
                <p14:modId xmlns:p14="http://schemas.microsoft.com/office/powerpoint/2010/main" val="2639628619"/>
              </p:ext>
            </p:extLst>
          </p:nvPr>
        </p:nvGraphicFramePr>
        <p:xfrm>
          <a:off x="5070475" y="1698625"/>
          <a:ext cx="6478588" cy="45164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268825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6D6306C-ED4F-4AAE-B4A5-EEA6AFAD7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6E873C-D052-46DC-91AC-558A347B31D9}"/>
              </a:ext>
            </a:extLst>
          </p:cNvPr>
          <p:cNvSpPr>
            <a:spLocks noGrp="1"/>
          </p:cNvSpPr>
          <p:nvPr>
            <p:ph type="title"/>
          </p:nvPr>
        </p:nvSpPr>
        <p:spPr>
          <a:xfrm>
            <a:off x="643467" y="1698171"/>
            <a:ext cx="3962061" cy="642357"/>
          </a:xfrm>
        </p:spPr>
        <p:txBody>
          <a:bodyPr anchor="t">
            <a:normAutofit/>
          </a:bodyPr>
          <a:lstStyle/>
          <a:p>
            <a:r>
              <a:rPr lang="en-US" sz="3600" dirty="0"/>
              <a:t>Abstract</a:t>
            </a:r>
          </a:p>
        </p:txBody>
      </p:sp>
      <p:sp>
        <p:nvSpPr>
          <p:cNvPr id="20" name="Rectangle 19">
            <a:extLst>
              <a:ext uri="{FF2B5EF4-FFF2-40B4-BE49-F238E27FC236}">
                <a16:creationId xmlns:a16="http://schemas.microsoft.com/office/drawing/2014/main" id="{0EC5361D-F897-4856-B945-0455A365E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15435"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4508C0C5-2268-42B5-B3C8-4D0899E05F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Freeform: Shape 23">
            <a:extLst>
              <a:ext uri="{FF2B5EF4-FFF2-40B4-BE49-F238E27FC236}">
                <a16:creationId xmlns:a16="http://schemas.microsoft.com/office/drawing/2014/main" id="{141ACBDB-38F8-4B34-8183-BD95B4E55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739327"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6" name="Rectangle 25">
            <a:extLst>
              <a:ext uri="{FF2B5EF4-FFF2-40B4-BE49-F238E27FC236}">
                <a16:creationId xmlns:a16="http://schemas.microsoft.com/office/drawing/2014/main" id="{DE00DB52-3455-4E2F-867B-A6D0516E17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653800"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C8B90F6D-5338-4F52-AB00-7041C07F9C0B}"/>
              </a:ext>
            </a:extLst>
          </p:cNvPr>
          <p:cNvSpPr>
            <a:spLocks noGrp="1"/>
          </p:cNvSpPr>
          <p:nvPr>
            <p:ph idx="1"/>
          </p:nvPr>
        </p:nvSpPr>
        <p:spPr>
          <a:xfrm>
            <a:off x="5070020" y="1698170"/>
            <a:ext cx="6478513" cy="4516361"/>
          </a:xfrm>
        </p:spPr>
        <p:txBody>
          <a:bodyPr>
            <a:normAutofit/>
          </a:bodyPr>
          <a:lstStyle/>
          <a:p>
            <a:pPr marL="457200" lvl="1" indent="0">
              <a:buNone/>
            </a:pPr>
            <a:r>
              <a:rPr lang="en-US" sz="2000" dirty="0"/>
              <a:t>I first became interested in this topic from a general perspective as I entered my first management role. I was entered into a Leadership training course and I remember one of the first questions asked being “What are the top 5 reasons people give for leaving a company?” The idea was to ask this question at the start of the training and again afterwards to see if the answers had changed (which of course they did). Some of the reasons surprised me, some not so much, but from then on it has always been a topic that holds my interest. As I was looking for a dataset to use for this project, this one certainly stood out as one that could satisfy both my longtime interest and that could be relevant to why we are here. </a:t>
            </a:r>
          </a:p>
        </p:txBody>
      </p:sp>
      <p:sp>
        <p:nvSpPr>
          <p:cNvPr id="28" name="Isosceles Triangle 27">
            <a:extLst>
              <a:ext uri="{FF2B5EF4-FFF2-40B4-BE49-F238E27FC236}">
                <a16:creationId xmlns:a16="http://schemas.microsoft.com/office/drawing/2014/main" id="{9E914C83-E0D8-4953-92D5-169D28CB43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5423"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 name="Isosceles Triangle 29">
            <a:extLst>
              <a:ext uri="{FF2B5EF4-FFF2-40B4-BE49-F238E27FC236}">
                <a16:creationId xmlns:a16="http://schemas.microsoft.com/office/drawing/2014/main" id="{3512E083-F550-46AF-8490-767ECFD00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7297"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260210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1A56FD-3ED0-45E0-9014-113763943937}"/>
              </a:ext>
            </a:extLst>
          </p:cNvPr>
          <p:cNvSpPr>
            <a:spLocks noGrp="1"/>
          </p:cNvSpPr>
          <p:nvPr>
            <p:ph type="title"/>
          </p:nvPr>
        </p:nvSpPr>
        <p:spPr>
          <a:xfrm>
            <a:off x="643467" y="321734"/>
            <a:ext cx="10905066" cy="1135737"/>
          </a:xfrm>
        </p:spPr>
        <p:txBody>
          <a:bodyPr>
            <a:normAutofit/>
          </a:bodyPr>
          <a:lstStyle/>
          <a:p>
            <a:r>
              <a:rPr lang="en-US" sz="3600" i="1" dirty="0"/>
              <a:t>The Data</a:t>
            </a:r>
          </a:p>
        </p:txBody>
      </p:sp>
      <p:graphicFrame>
        <p:nvGraphicFramePr>
          <p:cNvPr id="18" name="Content Placeholder 2">
            <a:extLst>
              <a:ext uri="{FF2B5EF4-FFF2-40B4-BE49-F238E27FC236}">
                <a16:creationId xmlns:a16="http://schemas.microsoft.com/office/drawing/2014/main" id="{88B9DDDF-7FC4-496A-955C-C77508D60540}"/>
              </a:ext>
            </a:extLst>
          </p:cNvPr>
          <p:cNvGraphicFramePr>
            <a:graphicFrameLocks noGrp="1"/>
          </p:cNvGraphicFramePr>
          <p:nvPr>
            <p:ph idx="1"/>
            <p:extLst>
              <p:ext uri="{D42A27DB-BD31-4B8C-83A1-F6EECF244321}">
                <p14:modId xmlns:p14="http://schemas.microsoft.com/office/powerpoint/2010/main" val="1938069948"/>
              </p:ext>
            </p:extLst>
          </p:nvPr>
        </p:nvGraphicFramePr>
        <p:xfrm>
          <a:off x="5283472" y="1577515"/>
          <a:ext cx="4859711" cy="43939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2399162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61D80D-CF9C-4994-AC60-FEC7BAEF245A}"/>
              </a:ext>
            </a:extLst>
          </p:cNvPr>
          <p:cNvSpPr>
            <a:spLocks noGrp="1"/>
          </p:cNvSpPr>
          <p:nvPr>
            <p:ph type="title"/>
          </p:nvPr>
        </p:nvSpPr>
        <p:spPr>
          <a:xfrm>
            <a:off x="838200" y="557188"/>
            <a:ext cx="10515600" cy="1133499"/>
          </a:xfrm>
        </p:spPr>
        <p:txBody>
          <a:bodyPr>
            <a:normAutofit/>
          </a:bodyPr>
          <a:lstStyle/>
          <a:p>
            <a:pPr algn="ctr"/>
            <a:r>
              <a:rPr lang="en-US" sz="5200"/>
              <a:t>What the variables look like.</a:t>
            </a:r>
          </a:p>
        </p:txBody>
      </p:sp>
      <p:graphicFrame>
        <p:nvGraphicFramePr>
          <p:cNvPr id="18" name="Content Placeholder 2">
            <a:extLst>
              <a:ext uri="{FF2B5EF4-FFF2-40B4-BE49-F238E27FC236}">
                <a16:creationId xmlns:a16="http://schemas.microsoft.com/office/drawing/2014/main" id="{A9D038D7-BD38-41A1-9F2D-9806BA01A8C2}"/>
              </a:ext>
            </a:extLst>
          </p:cNvPr>
          <p:cNvGraphicFramePr>
            <a:graphicFrameLocks noGrp="1"/>
          </p:cNvGraphicFramePr>
          <p:nvPr>
            <p:ph idx="1"/>
            <p:extLst>
              <p:ext uri="{D42A27DB-BD31-4B8C-83A1-F6EECF244321}">
                <p14:modId xmlns:p14="http://schemas.microsoft.com/office/powerpoint/2010/main" val="2895145935"/>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71703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B566528-1B12-4246-9431-5C2D7D0811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3BFFEAA-CE74-4377-B73D-55F4C5EC7F10}"/>
              </a:ext>
            </a:extLst>
          </p:cNvPr>
          <p:cNvSpPr>
            <a:spLocks noGrp="1"/>
          </p:cNvSpPr>
          <p:nvPr>
            <p:ph type="title"/>
          </p:nvPr>
        </p:nvSpPr>
        <p:spPr>
          <a:xfrm>
            <a:off x="643467" y="321734"/>
            <a:ext cx="2376570" cy="980839"/>
          </a:xfrm>
        </p:spPr>
        <p:txBody>
          <a:bodyPr>
            <a:normAutofit/>
          </a:bodyPr>
          <a:lstStyle/>
          <a:p>
            <a:r>
              <a:rPr lang="en-US" sz="3600" i="1" dirty="0"/>
              <a:t>Histograms</a:t>
            </a:r>
          </a:p>
        </p:txBody>
      </p:sp>
      <p:sp>
        <p:nvSpPr>
          <p:cNvPr id="10" name="Rectangle 9">
            <a:extLst>
              <a:ext uri="{FF2B5EF4-FFF2-40B4-BE49-F238E27FC236}">
                <a16:creationId xmlns:a16="http://schemas.microsoft.com/office/drawing/2014/main" id="{2E80C965-DB6D-4F81-9E9E-B027384D0B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1052629" y="2120024"/>
            <a:ext cx="645368" cy="645368"/>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Isosceles Triangle 11">
            <a:extLst>
              <a:ext uri="{FF2B5EF4-FFF2-40B4-BE49-F238E27FC236}">
                <a16:creationId xmlns:a16="http://schemas.microsoft.com/office/drawing/2014/main" id="{A580F890-B085-4E95-96AA-55AEBEC5CE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0289068" y="1343027"/>
            <a:ext cx="2532832" cy="1273032"/>
          </a:xfrm>
          <a:prstGeom prst="triangle">
            <a:avLst>
              <a:gd name="adj" fmla="val 50000"/>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D3F51FEB-38FB-4F6C-9F7B-2F2AFAB65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01760" y="5103257"/>
            <a:ext cx="2017580" cy="1014060"/>
          </a:xfrm>
          <a:prstGeom prst="triangle">
            <a:avLst>
              <a:gd name="adj" fmla="val 50000"/>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1E547BA6-BAE0-43BB-A7CA-60F69CE252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27916" y="5728708"/>
            <a:ext cx="485578" cy="48557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026" name="Picture 2">
            <a:extLst>
              <a:ext uri="{FF2B5EF4-FFF2-40B4-BE49-F238E27FC236}">
                <a16:creationId xmlns:a16="http://schemas.microsoft.com/office/drawing/2014/main" id="{E2417C9E-38FF-460C-870A-823D5D6D4FB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3142321" y="1681864"/>
            <a:ext cx="2635290" cy="175463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FD289B5A-C7AB-4AB2-AFF2-386527B4D7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30443" y="2073257"/>
            <a:ext cx="2635291" cy="1781701"/>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12BEECE7-4D24-471A-AEA2-AB4DF00B098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60606" y="2462354"/>
            <a:ext cx="2635292" cy="175463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61893E93-1228-4BE2-8371-ABFF1E91DA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56780" y="3758234"/>
            <a:ext cx="2630163" cy="177147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a:extLst>
              <a:ext uri="{FF2B5EF4-FFF2-40B4-BE49-F238E27FC236}">
                <a16:creationId xmlns:a16="http://schemas.microsoft.com/office/drawing/2014/main" id="{A8F7523D-F572-4FDB-AD0E-22AF3AFD570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082769" y="4179925"/>
            <a:ext cx="2635293" cy="1781702"/>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a:extLst>
              <a:ext uri="{FF2B5EF4-FFF2-40B4-BE49-F238E27FC236}">
                <a16:creationId xmlns:a16="http://schemas.microsoft.com/office/drawing/2014/main" id="{BBA69FC4-219F-48BB-8077-9717B2B98B1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64481" y="3298880"/>
            <a:ext cx="2635293" cy="175463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80393E43-F419-4893-AAD5-AC1767A05B4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736093" y="4606088"/>
            <a:ext cx="2630163" cy="177823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106C943-94F9-47B7-95C3-673FB0B5921E}"/>
              </a:ext>
            </a:extLst>
          </p:cNvPr>
          <p:cNvSpPr txBox="1"/>
          <p:nvPr/>
        </p:nvSpPr>
        <p:spPr>
          <a:xfrm rot="10800000" flipH="1" flipV="1">
            <a:off x="670705" y="1262025"/>
            <a:ext cx="2513007" cy="1200329"/>
          </a:xfrm>
          <a:prstGeom prst="rect">
            <a:avLst/>
          </a:prstGeom>
          <a:noFill/>
        </p:spPr>
        <p:txBody>
          <a:bodyPr wrap="square" rtlCol="0">
            <a:spAutoFit/>
          </a:bodyPr>
          <a:lstStyle/>
          <a:p>
            <a:r>
              <a:rPr lang="en-US" dirty="0"/>
              <a:t>These histograms represent each of the variables used here after cleaning the data.</a:t>
            </a:r>
          </a:p>
        </p:txBody>
      </p:sp>
    </p:spTree>
    <p:extLst>
      <p:ext uri="{BB962C8B-B14F-4D97-AF65-F5344CB8AC3E}">
        <p14:creationId xmlns:p14="http://schemas.microsoft.com/office/powerpoint/2010/main" val="26057946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 name="Down Arrow 7">
            <a:extLst>
              <a:ext uri="{FF2B5EF4-FFF2-40B4-BE49-F238E27FC236}">
                <a16:creationId xmlns:a16="http://schemas.microsoft.com/office/drawing/2014/main" id="{73DE2CFE-42F2-48F0-8706-5264E012B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288521" y="381403"/>
            <a:ext cx="2200313" cy="3342508"/>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A3B07B5-F0F2-4587-8A6E-FC68231F9193}"/>
              </a:ext>
            </a:extLst>
          </p:cNvPr>
          <p:cNvSpPr>
            <a:spLocks noGrp="1"/>
          </p:cNvSpPr>
          <p:nvPr>
            <p:ph type="title"/>
          </p:nvPr>
        </p:nvSpPr>
        <p:spPr>
          <a:xfrm>
            <a:off x="966952" y="1204108"/>
            <a:ext cx="2669406" cy="1781175"/>
          </a:xfrm>
        </p:spPr>
        <p:txBody>
          <a:bodyPr vert="horz" lIns="91440" tIns="45720" rIns="91440" bIns="45720" rtlCol="0" anchor="ctr">
            <a:normAutofit/>
          </a:bodyPr>
          <a:lstStyle/>
          <a:p>
            <a:r>
              <a:rPr lang="en-US" sz="3200" kern="1200">
                <a:solidFill>
                  <a:srgbClr val="FFFFFF"/>
                </a:solidFill>
                <a:latin typeface="+mj-lt"/>
                <a:ea typeface="+mj-ea"/>
                <a:cs typeface="+mj-cs"/>
              </a:rPr>
              <a:t>Descriptive Statistics</a:t>
            </a:r>
          </a:p>
        </p:txBody>
      </p:sp>
      <p:sp>
        <p:nvSpPr>
          <p:cNvPr id="6" name="TextBox 5">
            <a:extLst>
              <a:ext uri="{FF2B5EF4-FFF2-40B4-BE49-F238E27FC236}">
                <a16:creationId xmlns:a16="http://schemas.microsoft.com/office/drawing/2014/main" id="{47FC0EAF-AB38-42F8-9CE4-BC0D53A6EA11}"/>
              </a:ext>
            </a:extLst>
          </p:cNvPr>
          <p:cNvSpPr txBox="1"/>
          <p:nvPr/>
        </p:nvSpPr>
        <p:spPr>
          <a:xfrm>
            <a:off x="966951" y="3355130"/>
            <a:ext cx="2669407" cy="2427333"/>
          </a:xfrm>
          <a:prstGeom prst="rect">
            <a:avLst/>
          </a:prstGeom>
        </p:spPr>
        <p:txBody>
          <a:bodyPr vert="horz" lIns="91440" tIns="45720" rIns="91440" bIns="45720" rtlCol="0">
            <a:normAutofit/>
          </a:bodyPr>
          <a:lstStyle/>
          <a:p>
            <a:pPr indent="-228600">
              <a:lnSpc>
                <a:spcPct val="90000"/>
              </a:lnSpc>
              <a:spcAft>
                <a:spcPts val="600"/>
              </a:spcAft>
              <a:buFont typeface="Arial" panose="020B0604020202020204" pitchFamily="34" charset="0"/>
              <a:buChar char="•"/>
            </a:pPr>
            <a:r>
              <a:rPr lang="en-US" sz="1600"/>
              <a:t>Using the describe() function I was able to get the mean, standard deviation, quartiles and min/max values of the two numeric variables. </a:t>
            </a:r>
          </a:p>
        </p:txBody>
      </p:sp>
      <p:pic>
        <p:nvPicPr>
          <p:cNvPr id="5" name="Content Placeholder 4">
            <a:extLst>
              <a:ext uri="{FF2B5EF4-FFF2-40B4-BE49-F238E27FC236}">
                <a16:creationId xmlns:a16="http://schemas.microsoft.com/office/drawing/2014/main" id="{AF56E507-3B72-4B05-A78E-7B1D2C4EFD83}"/>
              </a:ext>
            </a:extLst>
          </p:cNvPr>
          <p:cNvPicPr>
            <a:picLocks noGrp="1" noChangeAspect="1"/>
          </p:cNvPicPr>
          <p:nvPr>
            <p:ph idx="1"/>
          </p:nvPr>
        </p:nvPicPr>
        <p:blipFill>
          <a:blip r:embed="rId2"/>
          <a:stretch>
            <a:fillRect/>
          </a:stretch>
        </p:blipFill>
        <p:spPr>
          <a:xfrm>
            <a:off x="6016007" y="952500"/>
            <a:ext cx="3785672" cy="4357731"/>
          </a:xfrm>
          <a:prstGeom prst="rect">
            <a:avLst/>
          </a:prstGeom>
        </p:spPr>
      </p:pic>
    </p:spTree>
    <p:extLst>
      <p:ext uri="{BB962C8B-B14F-4D97-AF65-F5344CB8AC3E}">
        <p14:creationId xmlns:p14="http://schemas.microsoft.com/office/powerpoint/2010/main" val="574175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Down Arrow 7">
            <a:extLst>
              <a:ext uri="{FF2B5EF4-FFF2-40B4-BE49-F238E27FC236}">
                <a16:creationId xmlns:a16="http://schemas.microsoft.com/office/drawing/2014/main" id="{B547373F-AF2E-4907-B442-9F902B387F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0100" y="-4763"/>
            <a:ext cx="3333749" cy="3338514"/>
          </a:xfrm>
          <a:prstGeom prst="downArrow">
            <a:avLst>
              <a:gd name="adj1" fmla="val 100000"/>
              <a:gd name="adj2" fmla="val 26890"/>
            </a:avLst>
          </a:prstGeom>
          <a:solidFill>
            <a:schemeClr val="tx1">
              <a:lumMod val="85000"/>
              <a:lumOff val="15000"/>
            </a:schemeClr>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4FD746-9D67-4E9B-A851-DA994858BBDF}"/>
              </a:ext>
            </a:extLst>
          </p:cNvPr>
          <p:cNvSpPr>
            <a:spLocks noGrp="1"/>
          </p:cNvSpPr>
          <p:nvPr>
            <p:ph type="title"/>
          </p:nvPr>
        </p:nvSpPr>
        <p:spPr>
          <a:xfrm>
            <a:off x="1028700" y="190501"/>
            <a:ext cx="2886075" cy="2486024"/>
          </a:xfrm>
          <a:noFill/>
        </p:spPr>
        <p:txBody>
          <a:bodyPr vert="horz" lIns="91440" tIns="45720" rIns="91440" bIns="45720" rtlCol="0" anchor="ctr">
            <a:normAutofit/>
          </a:bodyPr>
          <a:lstStyle/>
          <a:p>
            <a:pPr algn="ctr"/>
            <a:r>
              <a:rPr lang="en-US" sz="3600" dirty="0">
                <a:solidFill>
                  <a:schemeClr val="bg1"/>
                </a:solidFill>
              </a:rPr>
              <a:t>PMF’s </a:t>
            </a:r>
          </a:p>
        </p:txBody>
      </p:sp>
      <p:sp>
        <p:nvSpPr>
          <p:cNvPr id="4" name="TextBox 3">
            <a:extLst>
              <a:ext uri="{FF2B5EF4-FFF2-40B4-BE49-F238E27FC236}">
                <a16:creationId xmlns:a16="http://schemas.microsoft.com/office/drawing/2014/main" id="{AB804661-A748-426D-AAD9-E970A1B98C65}"/>
              </a:ext>
            </a:extLst>
          </p:cNvPr>
          <p:cNvSpPr txBox="1"/>
          <p:nvPr/>
        </p:nvSpPr>
        <p:spPr>
          <a:xfrm>
            <a:off x="4133849" y="205707"/>
            <a:ext cx="4238364" cy="1765706"/>
          </a:xfrm>
          <a:prstGeom prst="rect">
            <a:avLst/>
          </a:prstGeom>
          <a:noFill/>
        </p:spPr>
        <p:txBody>
          <a:bodyPr wrap="square" rtlCol="0">
            <a:spAutoFit/>
          </a:bodyPr>
          <a:lstStyle/>
          <a:p>
            <a:r>
              <a:rPr lang="en-US" dirty="0"/>
              <a:t>Interesting note, as I was working on generating the PMF, rather than using the thinkstats2 code I attempted to build my own and got similar but not the same results but could not figure out how to get the exact result as seen in the first graphic.</a:t>
            </a:r>
          </a:p>
        </p:txBody>
      </p:sp>
      <p:pic>
        <p:nvPicPr>
          <p:cNvPr id="6" name="Picture 5">
            <a:extLst>
              <a:ext uri="{FF2B5EF4-FFF2-40B4-BE49-F238E27FC236}">
                <a16:creationId xmlns:a16="http://schemas.microsoft.com/office/drawing/2014/main" id="{72D07734-F7DD-4DCD-982F-0D297333E03B}"/>
              </a:ext>
            </a:extLst>
          </p:cNvPr>
          <p:cNvPicPr>
            <a:picLocks noChangeAspect="1"/>
          </p:cNvPicPr>
          <p:nvPr/>
        </p:nvPicPr>
        <p:blipFill>
          <a:blip r:embed="rId2"/>
          <a:stretch>
            <a:fillRect/>
          </a:stretch>
        </p:blipFill>
        <p:spPr>
          <a:xfrm>
            <a:off x="4167428" y="2181883"/>
            <a:ext cx="3857143" cy="4190476"/>
          </a:xfrm>
          <a:prstGeom prst="rect">
            <a:avLst/>
          </a:prstGeom>
        </p:spPr>
      </p:pic>
      <p:pic>
        <p:nvPicPr>
          <p:cNvPr id="2050" name="Picture 2">
            <a:extLst>
              <a:ext uri="{FF2B5EF4-FFF2-40B4-BE49-F238E27FC236}">
                <a16:creationId xmlns:a16="http://schemas.microsoft.com/office/drawing/2014/main" id="{F0371BF0-32A0-45FF-8584-7EEB956382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72213" y="3950480"/>
            <a:ext cx="3600450" cy="2362200"/>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875EC22C-5AC7-4076-B054-C3980DC0C472}"/>
              </a:ext>
            </a:extLst>
          </p:cNvPr>
          <p:cNvSpPr txBox="1"/>
          <p:nvPr/>
        </p:nvSpPr>
        <p:spPr>
          <a:xfrm>
            <a:off x="8372213" y="3179865"/>
            <a:ext cx="3439486" cy="657226"/>
          </a:xfrm>
          <a:prstGeom prst="rect">
            <a:avLst/>
          </a:prstGeom>
          <a:noFill/>
        </p:spPr>
        <p:txBody>
          <a:bodyPr wrap="square" rtlCol="0">
            <a:spAutoFit/>
          </a:bodyPr>
          <a:lstStyle/>
          <a:p>
            <a:r>
              <a:rPr lang="en-US" dirty="0"/>
              <a:t>This second graphic is using the thinkstats2 code.</a:t>
            </a:r>
          </a:p>
        </p:txBody>
      </p:sp>
    </p:spTree>
    <p:extLst>
      <p:ext uri="{BB962C8B-B14F-4D97-AF65-F5344CB8AC3E}">
        <p14:creationId xmlns:p14="http://schemas.microsoft.com/office/powerpoint/2010/main" val="42850528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823AC064-BC96-4F32-8AE1-B2FD387548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96882" y="280374"/>
            <a:ext cx="11438793" cy="1844256"/>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04A900-9CAA-4192-9643-91AEC5C50149}"/>
              </a:ext>
            </a:extLst>
          </p:cNvPr>
          <p:cNvSpPr>
            <a:spLocks noGrp="1"/>
          </p:cNvSpPr>
          <p:nvPr>
            <p:ph type="title"/>
          </p:nvPr>
        </p:nvSpPr>
        <p:spPr>
          <a:xfrm>
            <a:off x="546351" y="433545"/>
            <a:ext cx="11139854" cy="930447"/>
          </a:xfrm>
          <a:prstGeom prst="ellipse">
            <a:avLst/>
          </a:prstGeom>
        </p:spPr>
        <p:txBody>
          <a:bodyPr vert="horz" lIns="91440" tIns="45720" rIns="91440" bIns="45720" rtlCol="0" anchor="b">
            <a:normAutofit/>
          </a:bodyPr>
          <a:lstStyle/>
          <a:p>
            <a:pPr algn="ctr"/>
            <a:r>
              <a:rPr lang="en-US" sz="3800">
                <a:solidFill>
                  <a:srgbClr val="FFFFFF"/>
                </a:solidFill>
              </a:rPr>
              <a:t>CDF &amp; Q-Q plot</a:t>
            </a:r>
          </a:p>
        </p:txBody>
      </p:sp>
      <p:cxnSp>
        <p:nvCxnSpPr>
          <p:cNvPr id="75" name="Straight Connector 74">
            <a:extLst>
              <a:ext uri="{FF2B5EF4-FFF2-40B4-BE49-F238E27FC236}">
                <a16:creationId xmlns:a16="http://schemas.microsoft.com/office/drawing/2014/main" id="{7E7C77BC-7138-40B1-A15B-20F57A49462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230078" y="1522292"/>
            <a:ext cx="7772400" cy="0"/>
          </a:xfrm>
          <a:prstGeom prst="line">
            <a:avLst/>
          </a:prstGeom>
          <a:ln w="22225">
            <a:solidFill>
              <a:srgbClr val="D9D9D9"/>
            </a:solidFill>
          </a:ln>
        </p:spPr>
        <p:style>
          <a:lnRef idx="1">
            <a:schemeClr val="accent1"/>
          </a:lnRef>
          <a:fillRef idx="0">
            <a:schemeClr val="accent1"/>
          </a:fillRef>
          <a:effectRef idx="0">
            <a:schemeClr val="accent1"/>
          </a:effectRef>
          <a:fontRef idx="minor">
            <a:schemeClr val="tx1"/>
          </a:fontRef>
        </p:style>
      </p:cxnSp>
      <p:pic>
        <p:nvPicPr>
          <p:cNvPr id="3076" name="Picture 4">
            <a:extLst>
              <a:ext uri="{FF2B5EF4-FFF2-40B4-BE49-F238E27FC236}">
                <a16:creationId xmlns:a16="http://schemas.microsoft.com/office/drawing/2014/main" id="{562827F1-090E-453B-A02E-CA951ECF9D59}"/>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652327" y="4004747"/>
            <a:ext cx="3772190" cy="2572879"/>
          </a:xfrm>
          <a:prstGeom prst="rect">
            <a:avLst/>
          </a:prstGeom>
          <a:noFill/>
          <a:extLst>
            <a:ext uri="{909E8E84-426E-40DD-AFC4-6F175D3DCCD1}">
              <a14:hiddenFill xmlns:a14="http://schemas.microsoft.com/office/drawing/2010/main">
                <a:solidFill>
                  <a:srgbClr val="FFFFFF"/>
                </a:solidFill>
              </a14:hiddenFill>
            </a:ext>
          </a:extLst>
        </p:spPr>
      </p:pic>
      <p:cxnSp>
        <p:nvCxnSpPr>
          <p:cNvPr id="77" name="Straight Connector 76">
            <a:extLst>
              <a:ext uri="{FF2B5EF4-FFF2-40B4-BE49-F238E27FC236}">
                <a16:creationId xmlns:a16="http://schemas.microsoft.com/office/drawing/2014/main" id="{DB146403-F3D6-484B-B2ED-97F9565D037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116278" y="2596836"/>
            <a:ext cx="0" cy="3657600"/>
          </a:xfrm>
          <a:prstGeom prst="line">
            <a:avLst/>
          </a:prstGeom>
          <a:ln w="101600" cmpd="dbl">
            <a:solidFill>
              <a:srgbClr val="595959"/>
            </a:solidFill>
          </a:ln>
        </p:spPr>
        <p:style>
          <a:lnRef idx="1">
            <a:schemeClr val="accent1"/>
          </a:lnRef>
          <a:fillRef idx="0">
            <a:schemeClr val="accent1"/>
          </a:fillRef>
          <a:effectRef idx="0">
            <a:schemeClr val="accent1"/>
          </a:effectRef>
          <a:fontRef idx="minor">
            <a:schemeClr val="tx1"/>
          </a:fontRef>
        </p:style>
      </p:cxnSp>
      <p:pic>
        <p:nvPicPr>
          <p:cNvPr id="3074" name="Picture 2">
            <a:extLst>
              <a:ext uri="{FF2B5EF4-FFF2-40B4-BE49-F238E27FC236}">
                <a16:creationId xmlns:a16="http://schemas.microsoft.com/office/drawing/2014/main" id="{DB423B6C-3CBC-43FD-803A-B62AAC5B8CC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351727" y="4027741"/>
            <a:ext cx="3756701" cy="254988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0A9E922-0F7D-4B79-ABC1-124C5E177243}"/>
              </a:ext>
            </a:extLst>
          </p:cNvPr>
          <p:cNvSpPr txBox="1"/>
          <p:nvPr/>
        </p:nvSpPr>
        <p:spPr>
          <a:xfrm>
            <a:off x="763398" y="2701255"/>
            <a:ext cx="4764941" cy="923330"/>
          </a:xfrm>
          <a:prstGeom prst="rect">
            <a:avLst/>
          </a:prstGeom>
          <a:noFill/>
        </p:spPr>
        <p:txBody>
          <a:bodyPr wrap="square" rtlCol="0">
            <a:spAutoFit/>
          </a:bodyPr>
          <a:lstStyle/>
          <a:p>
            <a:r>
              <a:rPr lang="en-US" dirty="0"/>
              <a:t>Looking at this </a:t>
            </a:r>
            <a:r>
              <a:rPr lang="en-US" dirty="0" err="1"/>
              <a:t>cdf</a:t>
            </a:r>
            <a:r>
              <a:rPr lang="en-US" dirty="0"/>
              <a:t> and </a:t>
            </a:r>
            <a:r>
              <a:rPr lang="en-US" dirty="0" err="1"/>
              <a:t>Thinkstats</a:t>
            </a:r>
            <a:r>
              <a:rPr lang="en-US" dirty="0"/>
              <a:t> my interpretation would be that this represents the general shape of an exponential distribution.</a:t>
            </a:r>
          </a:p>
        </p:txBody>
      </p:sp>
      <p:sp>
        <p:nvSpPr>
          <p:cNvPr id="6" name="TextBox 5">
            <a:extLst>
              <a:ext uri="{FF2B5EF4-FFF2-40B4-BE49-F238E27FC236}">
                <a16:creationId xmlns:a16="http://schemas.microsoft.com/office/drawing/2014/main" id="{40891542-3982-4DCB-8E4D-F52661D52599}"/>
              </a:ext>
            </a:extLst>
          </p:cNvPr>
          <p:cNvSpPr txBox="1"/>
          <p:nvPr/>
        </p:nvSpPr>
        <p:spPr>
          <a:xfrm>
            <a:off x="7652327" y="2701255"/>
            <a:ext cx="3706367" cy="1200329"/>
          </a:xfrm>
          <a:prstGeom prst="rect">
            <a:avLst/>
          </a:prstGeom>
          <a:noFill/>
        </p:spPr>
        <p:txBody>
          <a:bodyPr wrap="square" rtlCol="0">
            <a:spAutoFit/>
          </a:bodyPr>
          <a:lstStyle/>
          <a:p>
            <a:r>
              <a:rPr lang="en-US" dirty="0"/>
              <a:t>With this Q-Q plot I might say that the model curve matches the model near the mean but deviates at the tails.  </a:t>
            </a:r>
          </a:p>
        </p:txBody>
      </p:sp>
    </p:spTree>
    <p:extLst>
      <p:ext uri="{BB962C8B-B14F-4D97-AF65-F5344CB8AC3E}">
        <p14:creationId xmlns:p14="http://schemas.microsoft.com/office/powerpoint/2010/main" val="1397401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059" y="450221"/>
            <a:ext cx="3362146" cy="3911523"/>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4700A098-1F1A-4DA8-B672-872E93B38C6C}"/>
              </a:ext>
            </a:extLst>
          </p:cNvPr>
          <p:cNvSpPr>
            <a:spLocks noGrp="1"/>
          </p:cNvSpPr>
          <p:nvPr>
            <p:ph type="title"/>
          </p:nvPr>
        </p:nvSpPr>
        <p:spPr>
          <a:xfrm>
            <a:off x="774701" y="762000"/>
            <a:ext cx="2771672" cy="3230578"/>
          </a:xfrm>
          <a:prstGeom prst="ellipse">
            <a:avLst/>
          </a:prstGeom>
        </p:spPr>
        <p:txBody>
          <a:bodyPr vert="horz" lIns="91440" tIns="45720" rIns="91440" bIns="45720" rtlCol="0" anchor="ctr">
            <a:normAutofit/>
          </a:bodyPr>
          <a:lstStyle/>
          <a:p>
            <a:r>
              <a:rPr lang="en-US" sz="4200">
                <a:solidFill>
                  <a:srgbClr val="FFFFFF"/>
                </a:solidFill>
              </a:rPr>
              <a:t>Scatter Plots</a:t>
            </a:r>
          </a:p>
        </p:txBody>
      </p:sp>
      <p:sp>
        <p:nvSpPr>
          <p:cNvPr id="77" name="Rectangle 76">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86784" y="445459"/>
            <a:ext cx="4356767" cy="595717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9D27E02F-F948-457C-A8FB-76D6CD0F865A}"/>
              </a:ext>
            </a:extLst>
          </p:cNvPr>
          <p:cNvSpPr txBox="1"/>
          <p:nvPr/>
        </p:nvSpPr>
        <p:spPr>
          <a:xfrm>
            <a:off x="4288935" y="805294"/>
            <a:ext cx="3752463" cy="5237503"/>
          </a:xfrm>
          <a:prstGeom prst="rect">
            <a:avLst/>
          </a:prstGeom>
        </p:spPr>
        <p:txBody>
          <a:bodyPr vert="horz" lIns="91440" tIns="45720" rIns="91440" bIns="45720" rtlCol="0" anchor="ctr">
            <a:normAutofit/>
          </a:bodyPr>
          <a:lstStyle/>
          <a:p>
            <a:pPr>
              <a:lnSpc>
                <a:spcPct val="90000"/>
              </a:lnSpc>
              <a:spcAft>
                <a:spcPts val="600"/>
              </a:spcAft>
            </a:pPr>
            <a:endParaRPr lang="en-US" sz="2000" dirty="0"/>
          </a:p>
        </p:txBody>
      </p:sp>
      <p:sp>
        <p:nvSpPr>
          <p:cNvPr id="79" name="Rectangle 78">
            <a:extLst>
              <a:ext uri="{FF2B5EF4-FFF2-40B4-BE49-F238E27FC236}">
                <a16:creationId xmlns:a16="http://schemas.microsoft.com/office/drawing/2014/main" id="{CD97A9F3-23E4-4B8E-BD38-8C08AA69FF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7434" y="448056"/>
            <a:ext cx="3203156" cy="1883664"/>
          </a:xfrm>
          <a:prstGeom prst="rect">
            <a:avLst/>
          </a:prstGeom>
          <a:solidFill>
            <a:srgbClr val="3F3FFF">
              <a:alpha val="20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4102" name="Picture 6">
            <a:extLst>
              <a:ext uri="{FF2B5EF4-FFF2-40B4-BE49-F238E27FC236}">
                <a16:creationId xmlns:a16="http://schemas.microsoft.com/office/drawing/2014/main" id="{F5C283B6-4E38-42FB-8474-E32D5790F1A7}"/>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8942939" y="4685743"/>
            <a:ext cx="2332146" cy="1546450"/>
          </a:xfrm>
          <a:prstGeom prst="rect">
            <a:avLst/>
          </a:prstGeom>
          <a:noFill/>
          <a:extLst>
            <a:ext uri="{909E8E84-426E-40DD-AFC4-6F175D3DCCD1}">
              <a14:hiddenFill xmlns:a14="http://schemas.microsoft.com/office/drawing/2010/main">
                <a:solidFill>
                  <a:srgbClr val="FFFFFF"/>
                </a:solidFill>
              </a14:hiddenFill>
            </a:ext>
          </a:extLst>
        </p:spPr>
      </p:pic>
      <p:sp>
        <p:nvSpPr>
          <p:cNvPr id="81" name="Rectangle 80">
            <a:extLst>
              <a:ext uri="{FF2B5EF4-FFF2-40B4-BE49-F238E27FC236}">
                <a16:creationId xmlns:a16="http://schemas.microsoft.com/office/drawing/2014/main" id="{D39A73BA-713C-4649-8A2F-834D01751E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7434" y="2478024"/>
            <a:ext cx="3203156" cy="1883664"/>
          </a:xfrm>
          <a:prstGeom prst="rect">
            <a:avLst/>
          </a:prstGeom>
          <a:solidFill>
            <a:srgbClr val="3F3FFF">
              <a:alpha val="20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pic>
        <p:nvPicPr>
          <p:cNvPr id="4098" name="Picture 2">
            <a:extLst>
              <a:ext uri="{FF2B5EF4-FFF2-40B4-BE49-F238E27FC236}">
                <a16:creationId xmlns:a16="http://schemas.microsoft.com/office/drawing/2014/main" id="{EE49798A-43A8-45EE-8004-1BF213F6B5AA}"/>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8992778" y="664899"/>
            <a:ext cx="2232467" cy="1546449"/>
          </a:xfrm>
          <a:prstGeom prst="rect">
            <a:avLst/>
          </a:prstGeom>
          <a:noFill/>
          <a:extLst>
            <a:ext uri="{909E8E84-426E-40DD-AFC4-6F175D3DCCD1}">
              <a14:hiddenFill xmlns:a14="http://schemas.microsoft.com/office/drawing/2010/main">
                <a:solidFill>
                  <a:srgbClr val="FFFFFF"/>
                </a:solidFill>
              </a14:hiddenFill>
            </a:ext>
          </a:extLst>
        </p:spPr>
      </p:pic>
      <p:sp>
        <p:nvSpPr>
          <p:cNvPr id="83" name="Rectangle 82">
            <a:extLst>
              <a:ext uri="{FF2B5EF4-FFF2-40B4-BE49-F238E27FC236}">
                <a16:creationId xmlns:a16="http://schemas.microsoft.com/office/drawing/2014/main" id="{DD63F128-A717-47EC-A567-0ACD2DBC60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507434" y="4517136"/>
            <a:ext cx="3203156" cy="1883664"/>
          </a:xfrm>
          <a:prstGeom prst="rect">
            <a:avLst/>
          </a:prstGeom>
          <a:solidFill>
            <a:srgbClr val="3F3FFF">
              <a:alpha val="20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5" name="Rectangle 84">
            <a:extLst>
              <a:ext uri="{FF2B5EF4-FFF2-40B4-BE49-F238E27FC236}">
                <a16:creationId xmlns:a16="http://schemas.microsoft.com/office/drawing/2014/main" id="{05CC4153-3F0D-4F4C-8F12-E8FC3FA40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058" y="4517136"/>
            <a:ext cx="3362146" cy="1890452"/>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pic>
        <p:nvPicPr>
          <p:cNvPr id="4100" name="Picture 4">
            <a:extLst>
              <a:ext uri="{FF2B5EF4-FFF2-40B4-BE49-F238E27FC236}">
                <a16:creationId xmlns:a16="http://schemas.microsoft.com/office/drawing/2014/main" id="{BD7B32C7-F1B9-493F-AEBE-EBA83585C494}"/>
              </a:ext>
            </a:extLst>
          </p:cNvPr>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8942939" y="2646631"/>
            <a:ext cx="2332146" cy="154645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9BBB4D6-8DBF-4CFF-A806-F8122EA517E3}"/>
              </a:ext>
            </a:extLst>
          </p:cNvPr>
          <p:cNvSpPr txBox="1"/>
          <p:nvPr/>
        </p:nvSpPr>
        <p:spPr>
          <a:xfrm>
            <a:off x="4404170" y="2681192"/>
            <a:ext cx="3885511" cy="1323439"/>
          </a:xfrm>
          <a:prstGeom prst="rect">
            <a:avLst/>
          </a:prstGeom>
          <a:noFill/>
        </p:spPr>
        <p:txBody>
          <a:bodyPr wrap="square" rtlCol="0">
            <a:spAutoFit/>
          </a:bodyPr>
          <a:lstStyle/>
          <a:p>
            <a:pPr>
              <a:spcAft>
                <a:spcPts val="600"/>
              </a:spcAft>
            </a:pPr>
            <a:r>
              <a:rPr lang="en-US" sz="1600" dirty="0"/>
              <a:t>Here I’ve added a jitter to the values to spread out the data. Just by looking at this plot you can start to see a couple clusters around the 5- &amp; 20-year experience levels. (more on this later)</a:t>
            </a:r>
          </a:p>
        </p:txBody>
      </p:sp>
      <p:sp>
        <p:nvSpPr>
          <p:cNvPr id="6" name="TextBox 5">
            <a:extLst>
              <a:ext uri="{FF2B5EF4-FFF2-40B4-BE49-F238E27FC236}">
                <a16:creationId xmlns:a16="http://schemas.microsoft.com/office/drawing/2014/main" id="{DEB3293C-A106-4906-B4F4-FF026E313BB7}"/>
              </a:ext>
            </a:extLst>
          </p:cNvPr>
          <p:cNvSpPr txBox="1"/>
          <p:nvPr/>
        </p:nvSpPr>
        <p:spPr>
          <a:xfrm>
            <a:off x="4377645" y="758841"/>
            <a:ext cx="3814830" cy="1354217"/>
          </a:xfrm>
          <a:prstGeom prst="rect">
            <a:avLst/>
          </a:prstGeom>
          <a:noFill/>
        </p:spPr>
        <p:txBody>
          <a:bodyPr wrap="square" rtlCol="0">
            <a:spAutoFit/>
          </a:bodyPr>
          <a:lstStyle/>
          <a:p>
            <a:r>
              <a:rPr lang="en-US" sz="1600" dirty="0"/>
              <a:t>In this first graphic, I’ve plotted the two variables experience and </a:t>
            </a:r>
            <a:r>
              <a:rPr lang="en-US" sz="1600" dirty="0" err="1"/>
              <a:t>last_new_job</a:t>
            </a:r>
            <a:r>
              <a:rPr lang="en-US" sz="1600" dirty="0"/>
              <a:t>. Looking at this plot, it’s hard to really see the shape of the distribution. </a:t>
            </a:r>
          </a:p>
          <a:p>
            <a:endParaRPr lang="en-US" dirty="0"/>
          </a:p>
        </p:txBody>
      </p:sp>
      <p:sp>
        <p:nvSpPr>
          <p:cNvPr id="7" name="TextBox 6">
            <a:extLst>
              <a:ext uri="{FF2B5EF4-FFF2-40B4-BE49-F238E27FC236}">
                <a16:creationId xmlns:a16="http://schemas.microsoft.com/office/drawing/2014/main" id="{16B4A63B-8468-4B21-BEBC-E0A7E8E9B736}"/>
              </a:ext>
            </a:extLst>
          </p:cNvPr>
          <p:cNvSpPr txBox="1"/>
          <p:nvPr/>
        </p:nvSpPr>
        <p:spPr>
          <a:xfrm>
            <a:off x="4419396" y="4764807"/>
            <a:ext cx="3491540" cy="1200329"/>
          </a:xfrm>
          <a:prstGeom prst="rect">
            <a:avLst/>
          </a:prstGeom>
          <a:noFill/>
        </p:spPr>
        <p:txBody>
          <a:bodyPr wrap="square" rtlCol="0">
            <a:spAutoFit/>
          </a:bodyPr>
          <a:lstStyle/>
          <a:p>
            <a:r>
              <a:rPr lang="en-US" dirty="0"/>
              <a:t>This third plot is a </a:t>
            </a:r>
            <a:r>
              <a:rPr lang="en-US" dirty="0" err="1"/>
              <a:t>hexbin</a:t>
            </a:r>
            <a:r>
              <a:rPr lang="en-US" dirty="0"/>
              <a:t> plot, it looks very similar to the effect we see in the scatter plot with jittering.</a:t>
            </a:r>
          </a:p>
        </p:txBody>
      </p:sp>
    </p:spTree>
    <p:extLst>
      <p:ext uri="{BB962C8B-B14F-4D97-AF65-F5344CB8AC3E}">
        <p14:creationId xmlns:p14="http://schemas.microsoft.com/office/powerpoint/2010/main" val="28520157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059" y="450221"/>
            <a:ext cx="3639311" cy="3387645"/>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6D843409-C8F2-42AD-BBC0-76B831CC6702}"/>
              </a:ext>
            </a:extLst>
          </p:cNvPr>
          <p:cNvSpPr>
            <a:spLocks noGrp="1"/>
          </p:cNvSpPr>
          <p:nvPr>
            <p:ph type="title"/>
          </p:nvPr>
        </p:nvSpPr>
        <p:spPr>
          <a:xfrm>
            <a:off x="774701" y="761999"/>
            <a:ext cx="3054640" cy="2692564"/>
          </a:xfrm>
        </p:spPr>
        <p:txBody>
          <a:bodyPr>
            <a:normAutofit/>
          </a:bodyPr>
          <a:lstStyle/>
          <a:p>
            <a:r>
              <a:rPr lang="en-US" sz="3600">
                <a:solidFill>
                  <a:srgbClr val="FFFFFF"/>
                </a:solidFill>
              </a:rPr>
              <a:t>Correlation Heatmaps</a:t>
            </a:r>
          </a:p>
        </p:txBody>
      </p:sp>
      <p:sp>
        <p:nvSpPr>
          <p:cNvPr id="77" name="Rectangle 76">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63362" y="446007"/>
            <a:ext cx="5841454" cy="33876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9DE1205-1596-4768-92D5-A6A9690587A1}"/>
              </a:ext>
            </a:extLst>
          </p:cNvPr>
          <p:cNvSpPr>
            <a:spLocks noGrp="1"/>
          </p:cNvSpPr>
          <p:nvPr>
            <p:ph idx="1"/>
          </p:nvPr>
        </p:nvSpPr>
        <p:spPr>
          <a:xfrm>
            <a:off x="4684424" y="761999"/>
            <a:ext cx="5067629" cy="2692563"/>
          </a:xfrm>
        </p:spPr>
        <p:txBody>
          <a:bodyPr anchor="ctr">
            <a:normAutofit/>
          </a:bodyPr>
          <a:lstStyle/>
          <a:p>
            <a:pPr marL="0" indent="0">
              <a:buNone/>
            </a:pPr>
            <a:r>
              <a:rPr lang="en-US" sz="2000"/>
              <a:t>Next here are some correlation heatmaps for Pearson, Spearman and Kendall methods and we can see that there is some correlation between our experience and last_new_job variables.</a:t>
            </a:r>
          </a:p>
        </p:txBody>
      </p:sp>
      <p:sp>
        <p:nvSpPr>
          <p:cNvPr id="79" name="Rectangle 78">
            <a:extLst>
              <a:ext uri="{FF2B5EF4-FFF2-40B4-BE49-F238E27FC236}">
                <a16:creationId xmlns:a16="http://schemas.microsoft.com/office/drawing/2014/main" id="{64C1ECFF-79D4-4304-8755-639B1BB1ED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67273" y="446007"/>
            <a:ext cx="1438858" cy="1623110"/>
          </a:xfrm>
          <a:prstGeom prst="rect">
            <a:avLst/>
          </a:prstGeom>
          <a:solidFill>
            <a:srgbClr val="3A4D5B"/>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81" name="Rectangle 80">
            <a:extLst>
              <a:ext uri="{FF2B5EF4-FFF2-40B4-BE49-F238E27FC236}">
                <a16:creationId xmlns:a16="http://schemas.microsoft.com/office/drawing/2014/main" id="{05CC4153-3F0D-4F4C-8F12-E8FC3FA40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67273" y="2210542"/>
            <a:ext cx="1438858" cy="1623110"/>
          </a:xfrm>
          <a:prstGeom prst="rect">
            <a:avLst/>
          </a:prstGeom>
          <a:solidFill>
            <a:srgbClr val="3A4D5B">
              <a:alpha val="95000"/>
            </a:srgb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pic>
        <p:nvPicPr>
          <p:cNvPr id="5122" name="Picture 2">
            <a:extLst>
              <a:ext uri="{FF2B5EF4-FFF2-40B4-BE49-F238E27FC236}">
                <a16:creationId xmlns:a16="http://schemas.microsoft.com/office/drawing/2014/main" id="{31941932-20D2-496F-BB22-2A97A5A8979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754" b="6956"/>
          <a:stretch/>
        </p:blipFill>
        <p:spPr bwMode="auto">
          <a:xfrm>
            <a:off x="462058" y="4001080"/>
            <a:ext cx="3639312" cy="2401554"/>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8CE3ADBD-B204-429D-AE1B-A1D34861DBC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741" b="6969"/>
          <a:stretch/>
        </p:blipFill>
        <p:spPr bwMode="auto">
          <a:xfrm>
            <a:off x="4263362" y="4001080"/>
            <a:ext cx="3639312" cy="2401554"/>
          </a:xfrm>
          <a:prstGeom prst="rect">
            <a:avLst/>
          </a:prstGeom>
          <a:noFill/>
          <a:extLst>
            <a:ext uri="{909E8E84-426E-40DD-AFC4-6F175D3DCCD1}">
              <a14:hiddenFill xmlns:a14="http://schemas.microsoft.com/office/drawing/2010/main">
                <a:solidFill>
                  <a:srgbClr val="FFFFFF"/>
                </a:solidFill>
              </a14:hiddenFill>
            </a:ext>
          </a:extLst>
        </p:spPr>
      </p:pic>
      <p:pic>
        <p:nvPicPr>
          <p:cNvPr id="5126" name="Picture 6">
            <a:extLst>
              <a:ext uri="{FF2B5EF4-FFF2-40B4-BE49-F238E27FC236}">
                <a16:creationId xmlns:a16="http://schemas.microsoft.com/office/drawing/2014/main" id="{FF116613-3254-4DEB-AD34-B91F290CE9C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1755" b="6955"/>
          <a:stretch/>
        </p:blipFill>
        <p:spPr bwMode="auto">
          <a:xfrm>
            <a:off x="8066819" y="4001080"/>
            <a:ext cx="3639312" cy="24015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20721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2" y="453981"/>
            <a:ext cx="6675120" cy="1877811"/>
          </a:xfrm>
          <a:prstGeom prst="rect">
            <a:avLst/>
          </a:prstGeom>
          <a:solidFill>
            <a:srgbClr val="595959"/>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9D332611-82A1-4E98-8CA8-48627E032D01}"/>
              </a:ext>
            </a:extLst>
          </p:cNvPr>
          <p:cNvSpPr>
            <a:spLocks noGrp="1"/>
          </p:cNvSpPr>
          <p:nvPr>
            <p:ph type="title"/>
          </p:nvPr>
        </p:nvSpPr>
        <p:spPr>
          <a:xfrm>
            <a:off x="731520" y="731520"/>
            <a:ext cx="6089904" cy="1426464"/>
          </a:xfrm>
        </p:spPr>
        <p:txBody>
          <a:bodyPr>
            <a:normAutofit/>
          </a:bodyPr>
          <a:lstStyle/>
          <a:p>
            <a:r>
              <a:rPr lang="en-US">
                <a:solidFill>
                  <a:srgbClr val="FFFFFF"/>
                </a:solidFill>
              </a:rPr>
              <a:t>Regression</a:t>
            </a:r>
            <a:endParaRPr lang="en-US" dirty="0">
              <a:solidFill>
                <a:srgbClr val="FFFFFF"/>
              </a:solidFill>
            </a:endParaRPr>
          </a:p>
        </p:txBody>
      </p:sp>
      <p:sp>
        <p:nvSpPr>
          <p:cNvPr id="10" name="Rectangle 9">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277100" y="461737"/>
            <a:ext cx="2149361" cy="1870055"/>
          </a:xfrm>
          <a:prstGeom prst="rect">
            <a:avLst/>
          </a:prstGeom>
          <a:solidFill>
            <a:schemeClr val="accent1">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id="{E186B68C-84BC-4A6E-99D1-EE87483C13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73768" y="453155"/>
            <a:ext cx="2149358" cy="1878638"/>
          </a:xfrm>
          <a:prstGeom prst="rect">
            <a:avLst/>
          </a:prstGeom>
          <a:solidFill>
            <a:srgbClr val="A5A5A5"/>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4" name="Rectangle 13">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8920" y="2480956"/>
            <a:ext cx="11264206" cy="3918122"/>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371BB32-C4A9-42F7-A565-7772B8CDFB82}"/>
              </a:ext>
            </a:extLst>
          </p:cNvPr>
          <p:cNvSpPr>
            <a:spLocks noGrp="1"/>
          </p:cNvSpPr>
          <p:nvPr>
            <p:ph idx="1"/>
          </p:nvPr>
        </p:nvSpPr>
        <p:spPr>
          <a:xfrm>
            <a:off x="957237" y="3429000"/>
            <a:ext cx="5477120" cy="2495549"/>
          </a:xfrm>
        </p:spPr>
        <p:txBody>
          <a:bodyPr anchor="ctr">
            <a:normAutofit/>
          </a:bodyPr>
          <a:lstStyle/>
          <a:p>
            <a:pPr marL="0" indent="0">
              <a:buNone/>
            </a:pPr>
            <a:r>
              <a:rPr lang="en-US" sz="1800" dirty="0"/>
              <a:t>At this point I’ve calculated the values for R-squared, the Intercept and Slope which I was able to plot. </a:t>
            </a:r>
          </a:p>
          <a:p>
            <a:pPr marL="0" indent="0">
              <a:buNone/>
            </a:pPr>
            <a:r>
              <a:rPr lang="en-US" sz="1800" dirty="0"/>
              <a:t>This is the same scatter plot we saw earlier with the jitter added. </a:t>
            </a:r>
          </a:p>
        </p:txBody>
      </p:sp>
      <p:pic>
        <p:nvPicPr>
          <p:cNvPr id="6146" name="Picture 2">
            <a:extLst>
              <a:ext uri="{FF2B5EF4-FFF2-40B4-BE49-F238E27FC236}">
                <a16:creationId xmlns:a16="http://schemas.microsoft.com/office/drawing/2014/main" id="{664B8AD0-15AA-41DA-821D-A94299A731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45179" y="3428999"/>
            <a:ext cx="3667125" cy="24955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11361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8294908-8B00-4F58-BBBA-20F71A40AA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Freeform: Shape 9">
            <a:extLst>
              <a:ext uri="{FF2B5EF4-FFF2-40B4-BE49-F238E27FC236}">
                <a16:creationId xmlns:a16="http://schemas.microsoft.com/office/drawing/2014/main" id="{4364C879-1404-4203-8E9D-CC5DE0A621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82782" y="-1386168"/>
            <a:ext cx="2424873" cy="3611191"/>
          </a:xfrm>
          <a:custGeom>
            <a:avLst/>
            <a:gdLst>
              <a:gd name="connsiteX0" fmla="*/ 0 w 2424873"/>
              <a:gd name="connsiteY0" fmla="*/ 2424874 h 3611191"/>
              <a:gd name="connsiteX1" fmla="*/ 2424873 w 2424873"/>
              <a:gd name="connsiteY1" fmla="*/ 0 h 3611191"/>
              <a:gd name="connsiteX2" fmla="*/ 2424873 w 2424873"/>
              <a:gd name="connsiteY2" fmla="*/ 3611191 h 3611191"/>
              <a:gd name="connsiteX3" fmla="*/ 1186317 w 2424873"/>
              <a:gd name="connsiteY3" fmla="*/ 3611191 h 3611191"/>
            </a:gdLst>
            <a:ahLst/>
            <a:cxnLst>
              <a:cxn ang="0">
                <a:pos x="connsiteX0" y="connsiteY0"/>
              </a:cxn>
              <a:cxn ang="0">
                <a:pos x="connsiteX1" y="connsiteY1"/>
              </a:cxn>
              <a:cxn ang="0">
                <a:pos x="connsiteX2" y="connsiteY2"/>
              </a:cxn>
              <a:cxn ang="0">
                <a:pos x="connsiteX3" y="connsiteY3"/>
              </a:cxn>
            </a:cxnLst>
            <a:rect l="l" t="t" r="r" b="b"/>
            <a:pathLst>
              <a:path w="2424873" h="3611191">
                <a:moveTo>
                  <a:pt x="0" y="2424874"/>
                </a:moveTo>
                <a:lnTo>
                  <a:pt x="2424873" y="0"/>
                </a:lnTo>
                <a:lnTo>
                  <a:pt x="2424873" y="3611191"/>
                </a:lnTo>
                <a:lnTo>
                  <a:pt x="1186317" y="361119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Shape 11">
            <a:extLst>
              <a:ext uri="{FF2B5EF4-FFF2-40B4-BE49-F238E27FC236}">
                <a16:creationId xmlns:a16="http://schemas.microsoft.com/office/drawing/2014/main" id="{84617302-4B0D-4351-A6BB-6F0930D94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571000" y="-338582"/>
            <a:ext cx="1635955" cy="1635955"/>
          </a:xfrm>
          <a:custGeom>
            <a:avLst/>
            <a:gdLst>
              <a:gd name="connsiteX0" fmla="*/ 0 w 1635955"/>
              <a:gd name="connsiteY0" fmla="*/ 957987 h 1635955"/>
              <a:gd name="connsiteX1" fmla="*/ 957987 w 1635955"/>
              <a:gd name="connsiteY1" fmla="*/ 0 h 1635955"/>
              <a:gd name="connsiteX2" fmla="*/ 1635955 w 1635955"/>
              <a:gd name="connsiteY2" fmla="*/ 0 h 1635955"/>
              <a:gd name="connsiteX3" fmla="*/ 1635955 w 1635955"/>
              <a:gd name="connsiteY3" fmla="*/ 1635955 h 1635955"/>
              <a:gd name="connsiteX4" fmla="*/ 0 w 1635955"/>
              <a:gd name="connsiteY4" fmla="*/ 1635955 h 16359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35955" h="1635955">
                <a:moveTo>
                  <a:pt x="0" y="957987"/>
                </a:moveTo>
                <a:lnTo>
                  <a:pt x="957987" y="0"/>
                </a:lnTo>
                <a:lnTo>
                  <a:pt x="1635955" y="0"/>
                </a:lnTo>
                <a:lnTo>
                  <a:pt x="1635955" y="1635955"/>
                </a:lnTo>
                <a:lnTo>
                  <a:pt x="0" y="1635955"/>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 name="Freeform: Shape 13">
            <a:extLst>
              <a:ext uri="{FF2B5EF4-FFF2-40B4-BE49-F238E27FC236}">
                <a16:creationId xmlns:a16="http://schemas.microsoft.com/office/drawing/2014/main" id="{DA2C7802-C2E0-4218-8F89-8DD7CCD2CD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7985" y="-6588"/>
            <a:ext cx="4059393" cy="2548110"/>
          </a:xfrm>
          <a:custGeom>
            <a:avLst/>
            <a:gdLst>
              <a:gd name="connsiteX0" fmla="*/ 0 w 4059393"/>
              <a:gd name="connsiteY0" fmla="*/ 1511282 h 2548110"/>
              <a:gd name="connsiteX1" fmla="*/ 1511282 w 4059393"/>
              <a:gd name="connsiteY1" fmla="*/ 0 h 2548110"/>
              <a:gd name="connsiteX2" fmla="*/ 4059393 w 4059393"/>
              <a:gd name="connsiteY2" fmla="*/ 2548110 h 2548110"/>
              <a:gd name="connsiteX3" fmla="*/ 0 w 4059393"/>
              <a:gd name="connsiteY3" fmla="*/ 2548110 h 2548110"/>
            </a:gdLst>
            <a:ahLst/>
            <a:cxnLst>
              <a:cxn ang="0">
                <a:pos x="connsiteX0" y="connsiteY0"/>
              </a:cxn>
              <a:cxn ang="0">
                <a:pos x="connsiteX1" y="connsiteY1"/>
              </a:cxn>
              <a:cxn ang="0">
                <a:pos x="connsiteX2" y="connsiteY2"/>
              </a:cxn>
              <a:cxn ang="0">
                <a:pos x="connsiteX3" y="connsiteY3"/>
              </a:cxn>
            </a:cxnLst>
            <a:rect l="l" t="t" r="r" b="b"/>
            <a:pathLst>
              <a:path w="4059393" h="2548110">
                <a:moveTo>
                  <a:pt x="0" y="1511282"/>
                </a:moveTo>
                <a:lnTo>
                  <a:pt x="1511282" y="0"/>
                </a:lnTo>
                <a:lnTo>
                  <a:pt x="4059393" y="2548110"/>
                </a:lnTo>
                <a:lnTo>
                  <a:pt x="0" y="2548110"/>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Rectangle 15">
            <a:extLst>
              <a:ext uri="{FF2B5EF4-FFF2-40B4-BE49-F238E27FC236}">
                <a16:creationId xmlns:a16="http://schemas.microsoft.com/office/drawing/2014/main" id="{A6D7111A-21E5-4EE9-8A78-10E5530F01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262924" y="1465780"/>
            <a:ext cx="1185708" cy="118570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A3969E80-A77B-49FC-9122-D89AFD5EE1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9557" y="5198743"/>
            <a:ext cx="2444907" cy="2366116"/>
          </a:xfrm>
          <a:custGeom>
            <a:avLst/>
            <a:gdLst>
              <a:gd name="connsiteX0" fmla="*/ 0 w 2203753"/>
              <a:gd name="connsiteY0" fmla="*/ 0 h 2132734"/>
              <a:gd name="connsiteX1" fmla="*/ 2203753 w 2203753"/>
              <a:gd name="connsiteY1" fmla="*/ 0 h 2132734"/>
              <a:gd name="connsiteX2" fmla="*/ 2203753 w 2203753"/>
              <a:gd name="connsiteY2" fmla="*/ 576461 h 2132734"/>
              <a:gd name="connsiteX3" fmla="*/ 647480 w 2203753"/>
              <a:gd name="connsiteY3" fmla="*/ 2132734 h 2132734"/>
              <a:gd name="connsiteX4" fmla="*/ 0 w 2203753"/>
              <a:gd name="connsiteY4" fmla="*/ 1485255 h 2132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03753" h="2132734">
                <a:moveTo>
                  <a:pt x="0" y="0"/>
                </a:moveTo>
                <a:lnTo>
                  <a:pt x="2203753" y="0"/>
                </a:lnTo>
                <a:lnTo>
                  <a:pt x="2203753" y="576461"/>
                </a:lnTo>
                <a:lnTo>
                  <a:pt x="647480" y="2132734"/>
                </a:lnTo>
                <a:lnTo>
                  <a:pt x="0" y="1485255"/>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Rectangle 19">
            <a:extLst>
              <a:ext uri="{FF2B5EF4-FFF2-40B4-BE49-F238E27FC236}">
                <a16:creationId xmlns:a16="http://schemas.microsoft.com/office/drawing/2014/main" id="{1849CA57-76BD-4CF2-80BA-D7A46A01B7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769787" y="5439893"/>
            <a:ext cx="928467" cy="928467"/>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rgbClr val="FFFFFF"/>
              </a:solidFill>
              <a:effectLst>
                <a:outerShdw blurRad="38100" dist="38100" dir="2700000" algn="tl">
                  <a:srgbClr val="000000">
                    <a:alpha val="43137"/>
                  </a:srgbClr>
                </a:outerShdw>
              </a:effectLst>
            </a:endParaRPr>
          </a:p>
        </p:txBody>
      </p:sp>
      <p:sp>
        <p:nvSpPr>
          <p:cNvPr id="22" name="Freeform: Shape 21">
            <a:extLst>
              <a:ext uri="{FF2B5EF4-FFF2-40B4-BE49-F238E27FC236}">
                <a16:creationId xmlns:a16="http://schemas.microsoft.com/office/drawing/2014/main" id="{35E9085E-E730-4768-83D4-6CB7E98971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3401311" y="734311"/>
            <a:ext cx="5389379" cy="5389379"/>
          </a:xfrm>
          <a:custGeom>
            <a:avLst/>
            <a:gdLst>
              <a:gd name="connsiteX0" fmla="*/ 0 w 5389379"/>
              <a:gd name="connsiteY0" fmla="*/ 540040 h 5389379"/>
              <a:gd name="connsiteX1" fmla="*/ 540040 w 5389379"/>
              <a:gd name="connsiteY1" fmla="*/ 0 h 5389379"/>
              <a:gd name="connsiteX2" fmla="*/ 5389379 w 5389379"/>
              <a:gd name="connsiteY2" fmla="*/ 0 h 5389379"/>
              <a:gd name="connsiteX3" fmla="*/ 5389379 w 5389379"/>
              <a:gd name="connsiteY3" fmla="*/ 4838655 h 5389379"/>
              <a:gd name="connsiteX4" fmla="*/ 4838655 w 5389379"/>
              <a:gd name="connsiteY4" fmla="*/ 5389379 h 5389379"/>
              <a:gd name="connsiteX5" fmla="*/ 0 w 5389379"/>
              <a:gd name="connsiteY5" fmla="*/ 5389379 h 53893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9379" h="5389379">
                <a:moveTo>
                  <a:pt x="0" y="540040"/>
                </a:moveTo>
                <a:lnTo>
                  <a:pt x="540040" y="0"/>
                </a:lnTo>
                <a:lnTo>
                  <a:pt x="5389379" y="0"/>
                </a:lnTo>
                <a:lnTo>
                  <a:pt x="5389379" y="4838655"/>
                </a:lnTo>
                <a:lnTo>
                  <a:pt x="4838655" y="5389379"/>
                </a:lnTo>
                <a:lnTo>
                  <a:pt x="0" y="5389379"/>
                </a:ln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973272FE-A474-4CAE-8CA2-BCC8B476C3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2700283" y="33283"/>
            <a:ext cx="6791435" cy="6791435"/>
          </a:xfrm>
          <a:custGeom>
            <a:avLst/>
            <a:gdLst>
              <a:gd name="connsiteX0" fmla="*/ 1860938 w 6791435"/>
              <a:gd name="connsiteY0" fmla="*/ 81158 h 6791435"/>
              <a:gd name="connsiteX1" fmla="*/ 1942096 w 6791435"/>
              <a:gd name="connsiteY1" fmla="*/ 0 h 6791435"/>
              <a:gd name="connsiteX2" fmla="*/ 6791435 w 6791435"/>
              <a:gd name="connsiteY2" fmla="*/ 0 h 6791435"/>
              <a:gd name="connsiteX3" fmla="*/ 6791435 w 6791435"/>
              <a:gd name="connsiteY3" fmla="*/ 4838655 h 6791435"/>
              <a:gd name="connsiteX4" fmla="*/ 6710277 w 6791435"/>
              <a:gd name="connsiteY4" fmla="*/ 4919813 h 6791435"/>
              <a:gd name="connsiteX5" fmla="*/ 6710277 w 6791435"/>
              <a:gd name="connsiteY5" fmla="*/ 81158 h 6791435"/>
              <a:gd name="connsiteX6" fmla="*/ 0 w 6791435"/>
              <a:gd name="connsiteY6" fmla="*/ 1942096 h 6791435"/>
              <a:gd name="connsiteX7" fmla="*/ 81158 w 6791435"/>
              <a:gd name="connsiteY7" fmla="*/ 1860938 h 6791435"/>
              <a:gd name="connsiteX8" fmla="*/ 81158 w 6791435"/>
              <a:gd name="connsiteY8" fmla="*/ 6710277 h 6791435"/>
              <a:gd name="connsiteX9" fmla="*/ 4919813 w 6791435"/>
              <a:gd name="connsiteY9" fmla="*/ 6710277 h 6791435"/>
              <a:gd name="connsiteX10" fmla="*/ 4838655 w 6791435"/>
              <a:gd name="connsiteY10" fmla="*/ 6791435 h 6791435"/>
              <a:gd name="connsiteX11" fmla="*/ 0 w 6791435"/>
              <a:gd name="connsiteY11" fmla="*/ 6791435 h 67914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791435" h="6791435">
                <a:moveTo>
                  <a:pt x="1860938" y="81158"/>
                </a:moveTo>
                <a:lnTo>
                  <a:pt x="1942096" y="0"/>
                </a:lnTo>
                <a:lnTo>
                  <a:pt x="6791435" y="0"/>
                </a:lnTo>
                <a:lnTo>
                  <a:pt x="6791435" y="4838655"/>
                </a:lnTo>
                <a:lnTo>
                  <a:pt x="6710277" y="4919813"/>
                </a:lnTo>
                <a:lnTo>
                  <a:pt x="6710277" y="81158"/>
                </a:lnTo>
                <a:close/>
                <a:moveTo>
                  <a:pt x="0" y="1942096"/>
                </a:moveTo>
                <a:lnTo>
                  <a:pt x="81158" y="1860938"/>
                </a:lnTo>
                <a:lnTo>
                  <a:pt x="81158" y="6710277"/>
                </a:lnTo>
                <a:lnTo>
                  <a:pt x="4919813" y="6710277"/>
                </a:lnTo>
                <a:lnTo>
                  <a:pt x="4838655" y="6791435"/>
                </a:lnTo>
                <a:lnTo>
                  <a:pt x="0" y="6791435"/>
                </a:lnTo>
                <a:close/>
              </a:path>
            </a:pathLst>
          </a:custGeom>
          <a:solidFill>
            <a:srgbClr val="FFFFFF">
              <a:alpha val="6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2" name="Title 1">
            <a:extLst>
              <a:ext uri="{FF2B5EF4-FFF2-40B4-BE49-F238E27FC236}">
                <a16:creationId xmlns:a16="http://schemas.microsoft.com/office/drawing/2014/main" id="{56E6AEDC-C1C9-4B6C-A876-58FC26981A72}"/>
              </a:ext>
            </a:extLst>
          </p:cNvPr>
          <p:cNvSpPr>
            <a:spLocks noGrp="1"/>
          </p:cNvSpPr>
          <p:nvPr>
            <p:ph type="title"/>
          </p:nvPr>
        </p:nvSpPr>
        <p:spPr>
          <a:xfrm>
            <a:off x="3204642" y="2353641"/>
            <a:ext cx="5782716" cy="2150719"/>
          </a:xfrm>
          <a:noFill/>
        </p:spPr>
        <p:txBody>
          <a:bodyPr vert="horz" lIns="91440" tIns="45720" rIns="91440" bIns="45720" rtlCol="0" anchor="ctr">
            <a:normAutofit/>
          </a:bodyPr>
          <a:lstStyle/>
          <a:p>
            <a:pPr algn="ctr"/>
            <a:r>
              <a:rPr lang="en-US" sz="3600" i="1" kern="1200" dirty="0">
                <a:solidFill>
                  <a:srgbClr val="080808"/>
                </a:solidFill>
                <a:latin typeface="+mj-lt"/>
                <a:ea typeface="+mj-ea"/>
                <a:cs typeface="+mj-cs"/>
              </a:rPr>
              <a:t>Questions? </a:t>
            </a:r>
          </a:p>
        </p:txBody>
      </p:sp>
      <p:sp>
        <p:nvSpPr>
          <p:cNvPr id="26" name="Freeform: Shape 25">
            <a:extLst>
              <a:ext uri="{FF2B5EF4-FFF2-40B4-BE49-F238E27FC236}">
                <a16:creationId xmlns:a16="http://schemas.microsoft.com/office/drawing/2014/main" id="{E07981EA-05A6-437C-88D7-B377B92B03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629823" y="5457591"/>
            <a:ext cx="2231794" cy="2568811"/>
          </a:xfrm>
          <a:custGeom>
            <a:avLst/>
            <a:gdLst>
              <a:gd name="connsiteX0" fmla="*/ 0 w 2940086"/>
              <a:gd name="connsiteY0" fmla="*/ 0 h 3384061"/>
              <a:gd name="connsiteX1" fmla="*/ 2496112 w 2940086"/>
              <a:gd name="connsiteY1" fmla="*/ 0 h 3384061"/>
              <a:gd name="connsiteX2" fmla="*/ 2940086 w 2940086"/>
              <a:gd name="connsiteY2" fmla="*/ 443975 h 3384061"/>
              <a:gd name="connsiteX3" fmla="*/ 0 w 2940086"/>
              <a:gd name="connsiteY3" fmla="*/ 3384061 h 3384061"/>
            </a:gdLst>
            <a:ahLst/>
            <a:cxnLst>
              <a:cxn ang="0">
                <a:pos x="connsiteX0" y="connsiteY0"/>
              </a:cxn>
              <a:cxn ang="0">
                <a:pos x="connsiteX1" y="connsiteY1"/>
              </a:cxn>
              <a:cxn ang="0">
                <a:pos x="connsiteX2" y="connsiteY2"/>
              </a:cxn>
              <a:cxn ang="0">
                <a:pos x="connsiteX3" y="connsiteY3"/>
              </a:cxn>
            </a:cxnLst>
            <a:rect l="l" t="t" r="r" b="b"/>
            <a:pathLst>
              <a:path w="2940086" h="3384061">
                <a:moveTo>
                  <a:pt x="0" y="0"/>
                </a:moveTo>
                <a:lnTo>
                  <a:pt x="2496112" y="0"/>
                </a:lnTo>
                <a:lnTo>
                  <a:pt x="2940086" y="443975"/>
                </a:lnTo>
                <a:lnTo>
                  <a:pt x="0" y="3384061"/>
                </a:lnTo>
                <a:close/>
              </a:path>
            </a:pathLst>
          </a:cu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8" name="Rectangle 27">
            <a:extLst>
              <a:ext uri="{FF2B5EF4-FFF2-40B4-BE49-F238E27FC236}">
                <a16:creationId xmlns:a16="http://schemas.microsoft.com/office/drawing/2014/main" id="{15E3C750-986E-4769-B1AE-49289FBEE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9720059" y="5243545"/>
            <a:ext cx="959985" cy="959985"/>
          </a:xfrm>
          <a:prstGeom prst="rect">
            <a:avLst/>
          </a:prstGeom>
          <a:solidFill>
            <a:schemeClr val="accent4">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8456768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214</TotalTime>
  <Words>702</Words>
  <Application>Microsoft Office PowerPoint</Application>
  <PresentationFormat>Widescreen</PresentationFormat>
  <Paragraphs>46</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HR Analytics: Job Change of Data Scientists</vt:lpstr>
      <vt:lpstr>Hypothesis</vt:lpstr>
      <vt:lpstr>Abstract</vt:lpstr>
      <vt:lpstr>The Data</vt:lpstr>
      <vt:lpstr>What the variables look like.</vt:lpstr>
      <vt:lpstr>Histograms</vt:lpstr>
      <vt:lpstr>Descriptive Statistics</vt:lpstr>
      <vt:lpstr>PMF’s </vt:lpstr>
      <vt:lpstr>CDF &amp; Q-Q plot</vt:lpstr>
      <vt:lpstr>Scatter Plots</vt:lpstr>
      <vt:lpstr>Correlation Heatmaps</vt:lpstr>
      <vt:lpstr>Regression</vt:lpstr>
      <vt:lpstr>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HR Analytics: Job Change of Data Scientists</dc:title>
  <dc:creator>chris nosky</dc:creator>
  <cp:lastModifiedBy>chris nosky</cp:lastModifiedBy>
  <cp:revision>20</cp:revision>
  <dcterms:created xsi:type="dcterms:W3CDTF">2021-03-06T03:12:27Z</dcterms:created>
  <dcterms:modified xsi:type="dcterms:W3CDTF">2021-03-06T06:46:40Z</dcterms:modified>
</cp:coreProperties>
</file>